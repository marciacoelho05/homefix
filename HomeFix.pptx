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  <p:sldMasterId id="2147483661" r:id="rId2"/>
  </p:sldMasterIdLst>
  <p:notesMasterIdLst>
    <p:notesMasterId r:id="rId18"/>
  </p:notesMasterIdLst>
  <p:sldIdLst>
    <p:sldId id="257" r:id="rId3"/>
    <p:sldId id="311" r:id="rId4"/>
    <p:sldId id="335" r:id="rId5"/>
    <p:sldId id="349" r:id="rId6"/>
    <p:sldId id="350" r:id="rId7"/>
    <p:sldId id="352" r:id="rId8"/>
    <p:sldId id="353" r:id="rId9"/>
    <p:sldId id="354" r:id="rId10"/>
    <p:sldId id="336" r:id="rId11"/>
    <p:sldId id="341" r:id="rId12"/>
    <p:sldId id="342" r:id="rId13"/>
    <p:sldId id="345" r:id="rId14"/>
    <p:sldId id="339" r:id="rId15"/>
    <p:sldId id="347" r:id="rId16"/>
    <p:sldId id="338" r:id="rId17"/>
  </p:sldIdLst>
  <p:sldSz cx="12192000" cy="6858000"/>
  <p:notesSz cx="6858000" cy="9144000"/>
  <p:embeddedFontLst>
    <p:embeddedFont>
      <p:font typeface="Stencil" panose="040409050D0802020404" pitchFamily="82" charset="0"/>
      <p:regular r:id="rId19"/>
    </p:embeddedFont>
    <p:embeddedFont>
      <p:font typeface="Trebuchet MS" panose="020B0603020202020204" pitchFamily="34" charset="0"/>
      <p:regular r:id="rId20"/>
      <p:bold r:id="rId21"/>
      <p:italic r:id="rId22"/>
      <p:boldItalic r:id="rId23"/>
    </p:embeddedFont>
    <p:embeddedFont>
      <p:font typeface="TT Firs Neue" panose="020B0604020202020204" charset="0"/>
      <p:regular r:id="rId24"/>
      <p:bold r:id="rId25"/>
      <p:italic r:id="rId26"/>
      <p:boldItalic r:id="rId27"/>
    </p:embeddedFont>
    <p:embeddedFont>
      <p:font typeface="Wingdings 3" panose="05040102010807070707" pitchFamily="18" charset="2"/>
      <p:regular r:id="rId28"/>
    </p:embeddedFont>
  </p:embeddedFontLst>
  <p:defaultTextStyle>
    <a:defPPr>
      <a:defRPr lang="en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A32FF"/>
    <a:srgbClr val="13E15B"/>
    <a:srgbClr val="21221C"/>
    <a:srgbClr val="5954A4"/>
    <a:srgbClr val="FFFFFF"/>
    <a:srgbClr val="787878"/>
    <a:srgbClr val="FFFEFF"/>
    <a:srgbClr val="EF2D23"/>
    <a:srgbClr val="EE2D24"/>
    <a:srgbClr val="01AF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17" autoAdjust="0"/>
    <p:restoredTop sz="95634"/>
  </p:normalViewPr>
  <p:slideViewPr>
    <p:cSldViewPr snapToGrid="0">
      <p:cViewPr>
        <p:scale>
          <a:sx n="66" d="100"/>
          <a:sy n="66" d="100"/>
        </p:scale>
        <p:origin x="784" y="1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1.xml"/><Relationship Id="rId21" Type="http://schemas.openxmlformats.org/officeDocument/2006/relationships/font" Target="fonts/font3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7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font" Target="fonts/font2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6.fntdata"/><Relationship Id="rId32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10" Type="http://schemas.openxmlformats.org/officeDocument/2006/relationships/slide" Target="slides/slide8.xml"/><Relationship Id="rId19" Type="http://schemas.openxmlformats.org/officeDocument/2006/relationships/font" Target="fonts/font1.fntdata"/><Relationship Id="rId3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2B9F68-95D2-1E4B-BD5A-4119E13C16A5}" type="datetimeFigureOut">
              <a:rPr lang="pt-PT" smtClean="0"/>
              <a:t>05/11/2025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72C170-6E3C-BE41-9B71-DD06A4F194A4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2514330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72C170-6E3C-BE41-9B71-DD06A4F194A4}" type="slidenum">
              <a:rPr lang="pt-PT" smtClean="0"/>
              <a:t>13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399809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2B689-291F-CCE5-2D92-47C9CE2114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pt-P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0BE614-BC4F-2C98-8977-A5817A0C83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9D55CD-FC85-F396-2B5E-768E48B1AB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235B5-5E82-E649-BBB5-F8E6C16E27A0}" type="datetimeFigureOut">
              <a:rPr lang="pt-PT" smtClean="0"/>
              <a:t>05/11/2025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2B2E18-D553-8144-193D-5C1B3B799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C482E6-5EBB-333E-31A2-F2BEC3C48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4A87B-3148-E44C-BB9A-25AC87642A14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463476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CDAC4-C7A4-E8CF-9918-74D804B5A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FA780C-3D38-44A5-6F29-8C5754FCE6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A0AD4E-E528-6F77-04D5-463C8038A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235B5-5E82-E649-BBB5-F8E6C16E27A0}" type="datetimeFigureOut">
              <a:rPr lang="pt-PT" smtClean="0"/>
              <a:t>05/11/2025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EA081D-7F41-CAA6-B788-8BA9A6C6B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3975F-AD26-23C2-825B-6D687C254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4A87B-3148-E44C-BB9A-25AC87642A14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9255594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DC62C-0A4E-C7B1-7D65-A045ADFC5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73F2AC-4643-0030-B6EB-D41375A1DE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D1934-3BC4-13FC-1522-AE98C55F85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235B5-5E82-E649-BBB5-F8E6C16E27A0}" type="datetimeFigureOut">
              <a:rPr lang="pt-PT" smtClean="0"/>
              <a:t>05/11/2025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3EB353-7B96-0C90-9C3A-215C5395F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CB1B4F-78B3-2BE9-38C0-E3DEA1CDD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4A87B-3148-E44C-BB9A-25AC87642A14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8716362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82B4F-BD27-4141-3609-5D39E6B18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95AC59-50B9-03D0-E5FC-55D063B3C0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pt-P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E9F203-FAE2-888E-9650-FE2D40849D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pt-P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9ECDFF-0542-AF98-6084-9E65BC221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235B5-5E82-E649-BBB5-F8E6C16E27A0}" type="datetimeFigureOut">
              <a:rPr lang="pt-PT" smtClean="0"/>
              <a:t>05/11/2025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14DC32-C98F-5517-CF1B-93641097E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C4BDBB-8971-EDC2-646A-36AEEFA2E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4A87B-3148-E44C-BB9A-25AC87642A14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680344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0AB3D-FF6F-1D51-548D-B51DC22E1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C26E91-BF9A-D050-5792-4F796B4EA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991821-7675-683F-FE51-9AE2E5C8CC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pt-P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76CBE1-71A5-0BAE-3C82-9D9E291AC9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89AC96-4BE8-327B-0BC1-8E36C31DFE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pt-P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3951B58-D4EB-7AC8-01B2-5DE54ADAAE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235B5-5E82-E649-BBB5-F8E6C16E27A0}" type="datetimeFigureOut">
              <a:rPr lang="pt-PT" smtClean="0"/>
              <a:t>05/11/2025</a:t>
            </a:fld>
            <a:endParaRPr lang="pt-P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B5179A-E734-A25E-C648-91B8931F8C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0512359-07B2-5756-FCC7-55C6BF138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4A87B-3148-E44C-BB9A-25AC87642A14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35016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EA6B5-1567-63B0-C0D8-D835AA9706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pt-P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0D0351-18D6-02B7-F17E-4BD8B6E58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235B5-5E82-E649-BBB5-F8E6C16E27A0}" type="datetimeFigureOut">
              <a:rPr lang="pt-PT" smtClean="0"/>
              <a:t>05/11/2025</a:t>
            </a:fld>
            <a:endParaRPr lang="pt-P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BDE205-A896-2106-8DA1-05EF9FEBF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11ECAD-91A9-B545-8A46-62887361C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4A87B-3148-E44C-BB9A-25AC87642A14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9854701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1AB45E3-4639-D6ED-B0E6-4BECE9C4FF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235B5-5E82-E649-BBB5-F8E6C16E27A0}" type="datetimeFigureOut">
              <a:rPr lang="pt-PT" smtClean="0"/>
              <a:t>05/11/2025</a:t>
            </a:fld>
            <a:endParaRPr lang="pt-P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7797A3F-106D-8839-97F2-14C85D2F70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7B0E74-9A39-BBFD-29CC-263B14E91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4A87B-3148-E44C-BB9A-25AC87642A14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9604375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D7419-5321-09F7-56CA-3E7570993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08B452-D3C5-AFA1-7D2B-C80DF1E6A8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pt-P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C18640-158A-C8C2-C137-190193AA6E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D1B810-A6E3-27A0-2F77-7EE471E751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235B5-5E82-E649-BBB5-F8E6C16E27A0}" type="datetimeFigureOut">
              <a:rPr lang="pt-PT" smtClean="0"/>
              <a:t>05/11/2025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EAAA52-73B7-46CB-2DA4-CF9201EF3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885711-9521-5FCD-0E86-13716072F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4A87B-3148-E44C-BB9A-25AC87642A14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3614826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A00B3-A846-F076-1472-827C5AA7B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pt-P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10E8B95-7096-978E-4405-860292B29B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4A8028-3D37-76DD-AEEE-CC6303F781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7980F7-51C2-2B00-3ECB-767683EBA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235B5-5E82-E649-BBB5-F8E6C16E27A0}" type="datetimeFigureOut">
              <a:rPr lang="pt-PT" smtClean="0"/>
              <a:t>05/11/2025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9A14AA-B02D-316A-866F-F2AD992C5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411C33-1048-E9CC-E281-42CF1AC96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4A87B-3148-E44C-BB9A-25AC87642A14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2932506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A4E75-C167-3725-1201-0004DB8D6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pt-P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5BF51B-0751-3641-4CA8-F36387B241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E4B5C2-3497-6FBF-6EE9-262AF99CB8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235B5-5E82-E649-BBB5-F8E6C16E27A0}" type="datetimeFigureOut">
              <a:rPr lang="pt-PT" smtClean="0"/>
              <a:t>05/11/2025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C3E9AB-F82B-D79A-E0F9-41F7E2858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3B1CB1-EE94-9C07-4D6B-B172C0DF7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4A87B-3148-E44C-BB9A-25AC87642A14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2093156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6597693-AB66-CA02-AE94-505C19C6B6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pt-P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7A373C-267D-8F77-1B95-F30DC8A404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A62E0F-0B2C-784B-7AA0-2FD5D5B92C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235B5-5E82-E649-BBB5-F8E6C16E27A0}" type="datetimeFigureOut">
              <a:rPr lang="pt-PT" smtClean="0"/>
              <a:t>05/11/2025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BB3857-46E5-4349-8917-097EB48E1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ECC839-8EEB-5650-9556-41D57012C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4A87B-3148-E44C-BB9A-25AC87642A14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2771721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65" b="1" i="0">
                <a:solidFill>
                  <a:srgbClr val="231F20"/>
                </a:solidFill>
                <a:latin typeface="TTFirsNeue-DemiBold"/>
                <a:cs typeface="TTFirsNeue-DemiBold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10112" y="1577340"/>
            <a:ext cx="5307976" cy="3877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84156" y="1577340"/>
            <a:ext cx="5307976" cy="3877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11/5/2025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075095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PT"/>
              <a:t>Clique para editar o estilo de subtítulo do Modelo Global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235B5-5E82-E649-BBB5-F8E6C16E27A0}" type="datetimeFigureOut">
              <a:rPr lang="pt-PT" smtClean="0"/>
              <a:t>05/11/2025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4A87B-3148-E44C-BB9A-25AC87642A14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342627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235B5-5E82-E649-BBB5-F8E6C16E27A0}" type="datetimeFigureOut">
              <a:rPr lang="pt-PT" smtClean="0"/>
              <a:t>05/11/2025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4A87B-3148-E44C-BB9A-25AC87642A14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2692440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235B5-5E82-E649-BBB5-F8E6C16E27A0}" type="datetimeFigureOut">
              <a:rPr lang="pt-PT" smtClean="0"/>
              <a:t>05/11/2025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4A87B-3148-E44C-BB9A-25AC87642A14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8327800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235B5-5E82-E649-BBB5-F8E6C16E27A0}" type="datetimeFigureOut">
              <a:rPr lang="pt-PT" smtClean="0"/>
              <a:t>05/11/2025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4A87B-3148-E44C-BB9A-25AC87642A14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9792363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235B5-5E82-E649-BBB5-F8E6C16E27A0}" type="datetimeFigureOut">
              <a:rPr lang="pt-PT" smtClean="0"/>
              <a:t>05/11/2025</a:t>
            </a:fld>
            <a:endParaRPr lang="pt-P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4A87B-3148-E44C-BB9A-25AC87642A14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27544313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235B5-5E82-E649-BBB5-F8E6C16E27A0}" type="datetimeFigureOut">
              <a:rPr lang="pt-PT" smtClean="0"/>
              <a:t>05/11/2025</a:t>
            </a:fld>
            <a:endParaRPr lang="pt-P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4A87B-3148-E44C-BB9A-25AC87642A14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74812562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235B5-5E82-E649-BBB5-F8E6C16E27A0}" type="datetimeFigureOut">
              <a:rPr lang="pt-PT" smtClean="0"/>
              <a:t>05/11/2025</a:t>
            </a:fld>
            <a:endParaRPr lang="pt-P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4A87B-3148-E44C-BB9A-25AC87642A14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6076210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235B5-5E82-E649-BBB5-F8E6C16E27A0}" type="datetimeFigureOut">
              <a:rPr lang="pt-PT" smtClean="0"/>
              <a:t>05/11/2025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4A87B-3148-E44C-BB9A-25AC87642A14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57869953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PT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235B5-5E82-E649-BBB5-F8E6C16E27A0}" type="datetimeFigureOut">
              <a:rPr lang="pt-PT" smtClean="0"/>
              <a:t>05/11/2025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4A87B-3148-E44C-BB9A-25AC87642A14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44425363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235B5-5E82-E649-BBB5-F8E6C16E27A0}" type="datetimeFigureOut">
              <a:rPr lang="pt-PT" smtClean="0"/>
              <a:t>05/11/2025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4A87B-3148-E44C-BB9A-25AC87642A14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29366123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235B5-5E82-E649-BBB5-F8E6C16E27A0}" type="datetimeFigureOut">
              <a:rPr lang="pt-PT" smtClean="0"/>
              <a:t>05/11/2025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4A87B-3148-E44C-BB9A-25AC87642A14}" type="slidenum">
              <a:rPr lang="pt-PT" smtClean="0"/>
              <a:t>‹nº›</a:t>
            </a:fld>
            <a:endParaRPr lang="pt-PT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1740080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235B5-5E82-E649-BBB5-F8E6C16E27A0}" type="datetimeFigureOut">
              <a:rPr lang="pt-PT" smtClean="0"/>
              <a:t>05/11/2025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4A87B-3148-E44C-BB9A-25AC87642A14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67188910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 com Cit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235B5-5E82-E649-BBB5-F8E6C16E27A0}" type="datetimeFigureOut">
              <a:rPr lang="pt-PT" smtClean="0"/>
              <a:t>05/11/2025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4A87B-3148-E44C-BB9A-25AC87642A14}" type="slidenum">
              <a:rPr lang="pt-PT" smtClean="0"/>
              <a:t>‹nº›</a:t>
            </a:fld>
            <a:endParaRPr lang="pt-PT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3139088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235B5-5E82-E649-BBB5-F8E6C16E27A0}" type="datetimeFigureOut">
              <a:rPr lang="pt-PT" smtClean="0"/>
              <a:t>05/11/2025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4A87B-3148-E44C-BB9A-25AC87642A14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59781655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235B5-5E82-E649-BBB5-F8E6C16E27A0}" type="datetimeFigureOut">
              <a:rPr lang="pt-PT" smtClean="0"/>
              <a:t>05/11/2025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4A87B-3148-E44C-BB9A-25AC87642A14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97340948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235B5-5E82-E649-BBB5-F8E6C16E27A0}" type="datetimeFigureOut">
              <a:rPr lang="pt-PT" smtClean="0"/>
              <a:t>05/11/2025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4A87B-3148-E44C-BB9A-25AC87642A14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63951841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65" b="1" i="0">
                <a:solidFill>
                  <a:srgbClr val="231F20"/>
                </a:solidFill>
                <a:latin typeface="TTFirsNeue-DemiBold"/>
                <a:cs typeface="TTFirsNeue-DemiBold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10112" y="1577340"/>
            <a:ext cx="5307976" cy="3877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84156" y="1577340"/>
            <a:ext cx="5307976" cy="3877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11/5/2025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424101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9.xml"/><Relationship Id="rId2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28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399557-708A-12A0-CFED-06F895763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A0E915-74F4-023C-9476-AC9988456C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7C591A-C19D-2BF3-5D17-54FD101389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6235B5-5E82-E649-BBB5-F8E6C16E27A0}" type="datetimeFigureOut">
              <a:rPr lang="pt-PT" smtClean="0"/>
              <a:t>05/11/2025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A8D25D-7854-425E-23FE-4AA21B372A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72F222-BDB3-28AE-D93A-218D571015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F4A87B-3148-E44C-BB9A-25AC87642A14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902002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6235B5-5E82-E649-BBB5-F8E6C16E27A0}" type="datetimeFigureOut">
              <a:rPr lang="pt-PT" smtClean="0"/>
              <a:t>05/11/2025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76F4A87B-3148-E44C-BB9A-25AC87642A14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2181993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4576440B-42A3-DA06-031A-50A4BC5870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6137"/>
            <a:ext cx="12192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2E78C12-4D93-2987-11F9-FDB554366051}"/>
              </a:ext>
            </a:extLst>
          </p:cNvPr>
          <p:cNvSpPr txBox="1"/>
          <p:nvPr/>
        </p:nvSpPr>
        <p:spPr>
          <a:xfrm>
            <a:off x="8603116" y="5764645"/>
            <a:ext cx="3342646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br>
              <a:rPr lang="pt-PT" sz="3200" b="1" dirty="0">
                <a:solidFill>
                  <a:schemeClr val="bg1"/>
                </a:solidFill>
                <a:latin typeface="Stencil" panose="040409050D0802020404" pitchFamily="82" charset="0"/>
              </a:rPr>
            </a:br>
            <a:r>
              <a:rPr lang="pt-PT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Márcia Coelho</a:t>
            </a:r>
          </a:p>
        </p:txBody>
      </p:sp>
    </p:spTree>
    <p:extLst>
      <p:ext uri="{BB962C8B-B14F-4D97-AF65-F5344CB8AC3E}">
        <p14:creationId xmlns:p14="http://schemas.microsoft.com/office/powerpoint/2010/main" val="25076618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 descr="Text&#10;&#10;Description automatically generated with low confidence">
            <a:extLst>
              <a:ext uri="{FF2B5EF4-FFF2-40B4-BE49-F238E27FC236}">
                <a16:creationId xmlns:a16="http://schemas.microsoft.com/office/drawing/2014/main" id="{6B66E7D8-0A44-88AD-DB88-F5FC91BAB29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8568" r="66678" b="28168"/>
          <a:stretch/>
        </p:blipFill>
        <p:spPr>
          <a:xfrm>
            <a:off x="29574" y="231872"/>
            <a:ext cx="3675034" cy="1291942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E652BB1-DEC9-900F-C17F-A90B6A934859}"/>
              </a:ext>
            </a:extLst>
          </p:cNvPr>
          <p:cNvCxnSpPr>
            <a:cxnSpLocks/>
          </p:cNvCxnSpPr>
          <p:nvPr/>
        </p:nvCxnSpPr>
        <p:spPr>
          <a:xfrm>
            <a:off x="218993" y="1743075"/>
            <a:ext cx="11781418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object 10">
            <a:extLst>
              <a:ext uri="{FF2B5EF4-FFF2-40B4-BE49-F238E27FC236}">
                <a16:creationId xmlns:a16="http://schemas.microsoft.com/office/drawing/2014/main" id="{BA7E8E6F-8C37-C7A8-4170-F871B39DFD5E}"/>
              </a:ext>
            </a:extLst>
          </p:cNvPr>
          <p:cNvSpPr txBox="1"/>
          <p:nvPr/>
        </p:nvSpPr>
        <p:spPr>
          <a:xfrm>
            <a:off x="242951" y="2090450"/>
            <a:ext cx="11757460" cy="432041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r>
              <a:rPr lang="pt-PT" sz="2000" b="1" dirty="0"/>
              <a:t>Introdução</a:t>
            </a:r>
            <a:br>
              <a:rPr lang="pt-PT" sz="2000" dirty="0"/>
            </a:br>
            <a:r>
              <a:rPr lang="pt-PT" sz="2000" dirty="0"/>
              <a:t>Apresentação do projeto</a:t>
            </a:r>
          </a:p>
          <a:p>
            <a:endParaRPr lang="pt-PT" sz="2000" dirty="0"/>
          </a:p>
          <a:p>
            <a:r>
              <a:rPr lang="pt-PT" sz="2000" b="1" dirty="0"/>
              <a:t>Conteúdo</a:t>
            </a:r>
            <a:br>
              <a:rPr lang="pt-PT" sz="2000" dirty="0"/>
            </a:br>
            <a:r>
              <a:rPr lang="pt-PT" sz="2000" dirty="0"/>
              <a:t>Descrição da proposta para alcançar os objetivos e os meios utilizados.</a:t>
            </a:r>
          </a:p>
          <a:p>
            <a:endParaRPr lang="pt-PT" sz="2000" dirty="0"/>
          </a:p>
          <a:p>
            <a:r>
              <a:rPr lang="pt-PT" sz="2000" b="1" dirty="0"/>
              <a:t>Demo</a:t>
            </a:r>
            <a:br>
              <a:rPr lang="pt-PT" sz="2000" dirty="0"/>
            </a:br>
            <a:r>
              <a:rPr lang="pt-PT" sz="2000" dirty="0"/>
              <a:t>Demonstração prática do funcionamento do website.</a:t>
            </a:r>
          </a:p>
          <a:p>
            <a:endParaRPr lang="pt-PT" sz="2000" dirty="0"/>
          </a:p>
          <a:p>
            <a:r>
              <a:rPr lang="pt-PT" sz="2000" b="1" dirty="0"/>
              <a:t>Conclusão</a:t>
            </a:r>
            <a:br>
              <a:rPr lang="pt-PT" sz="2000" dirty="0"/>
            </a:br>
            <a:r>
              <a:rPr lang="pt-PT" sz="2000" dirty="0"/>
              <a:t>Resumo dos pontos principais e resultados esperados.</a:t>
            </a:r>
          </a:p>
          <a:p>
            <a:endParaRPr lang="pt-PT" sz="2000" dirty="0"/>
          </a:p>
          <a:p>
            <a:r>
              <a:rPr lang="pt-PT" sz="2000" b="1" dirty="0"/>
              <a:t>Q&amp;A</a:t>
            </a:r>
            <a:br>
              <a:rPr lang="pt-PT" sz="2000" dirty="0"/>
            </a:br>
            <a:r>
              <a:rPr lang="pt-PT" sz="2000" dirty="0"/>
              <a:t>Sessão para esclarecimento de dúvidas e perguntas.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C9D6566-1584-BB4A-AA8E-019DF4AC01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4035" y="386089"/>
            <a:ext cx="3035276" cy="1052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79026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 descr="Text&#10;&#10;Description automatically generated with low confidence">
            <a:extLst>
              <a:ext uri="{FF2B5EF4-FFF2-40B4-BE49-F238E27FC236}">
                <a16:creationId xmlns:a16="http://schemas.microsoft.com/office/drawing/2014/main" id="{6B66E7D8-0A44-88AD-DB88-F5FC91BAB29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8568" r="66678" b="28168"/>
          <a:stretch/>
        </p:blipFill>
        <p:spPr>
          <a:xfrm>
            <a:off x="29574" y="231872"/>
            <a:ext cx="3675034" cy="1291942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E652BB1-DEC9-900F-C17F-A90B6A934859}"/>
              </a:ext>
            </a:extLst>
          </p:cNvPr>
          <p:cNvCxnSpPr>
            <a:cxnSpLocks/>
          </p:cNvCxnSpPr>
          <p:nvPr/>
        </p:nvCxnSpPr>
        <p:spPr>
          <a:xfrm>
            <a:off x="218993" y="1743075"/>
            <a:ext cx="11781418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object 10">
            <a:extLst>
              <a:ext uri="{FF2B5EF4-FFF2-40B4-BE49-F238E27FC236}">
                <a16:creationId xmlns:a16="http://schemas.microsoft.com/office/drawing/2014/main" id="{BA7E8E6F-8C37-C7A8-4170-F871B39DFD5E}"/>
              </a:ext>
            </a:extLst>
          </p:cNvPr>
          <p:cNvSpPr txBox="1"/>
          <p:nvPr/>
        </p:nvSpPr>
        <p:spPr>
          <a:xfrm>
            <a:off x="230972" y="2622148"/>
            <a:ext cx="11757460" cy="2966197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r>
              <a:rPr lang="pt-PT" sz="2400" b="1" dirty="0">
                <a:solidFill>
                  <a:schemeClr val="accent2"/>
                </a:solidFill>
              </a:rPr>
              <a:t>Projeto Final</a:t>
            </a:r>
          </a:p>
          <a:p>
            <a:endParaRPr lang="pt-PT" sz="2400" dirty="0"/>
          </a:p>
          <a:p>
            <a:pPr algn="just"/>
            <a:r>
              <a:rPr lang="pt-PT" sz="2400" b="1" dirty="0" err="1">
                <a:solidFill>
                  <a:schemeClr val="accent4">
                    <a:lumMod val="75000"/>
                  </a:schemeClr>
                </a:solidFill>
              </a:rPr>
              <a:t>HomeFix</a:t>
            </a:r>
            <a:r>
              <a:rPr lang="pt-PT" sz="2400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pt-PT" sz="2400" dirty="0"/>
              <a:t>é uma plataforma online dedicada à manutenção domiciliar de qualidade, ligando utilizadores a técnicos certificados para serviços em casa. O site permite comparar profissionais, ler avaliações reais de clientes e agendar o serviço ideal de forma simples e transparente.</a:t>
            </a:r>
          </a:p>
          <a:p>
            <a:pPr algn="just"/>
            <a:r>
              <a:rPr lang="pt-PT" sz="2400" dirty="0"/>
              <a:t>O site enfatiza a confiança e a eficiência, ideal para reparações e manutenções residenciais, com foco na qualidade e na satisfação do cliente.</a:t>
            </a:r>
            <a:endParaRPr lang="pt-PT" sz="2400" dirty="0">
              <a:latin typeface="TT Firs Neue" panose="02000503030000020004" pitchFamily="2" charset="0"/>
              <a:cs typeface="TTFirsNeue-DemiBold"/>
            </a:endParaRPr>
          </a:p>
        </p:txBody>
      </p:sp>
      <p:sp>
        <p:nvSpPr>
          <p:cNvPr id="2" name="object 10">
            <a:extLst>
              <a:ext uri="{FF2B5EF4-FFF2-40B4-BE49-F238E27FC236}">
                <a16:creationId xmlns:a16="http://schemas.microsoft.com/office/drawing/2014/main" id="{946C43C7-8C16-01D2-DE92-5E288883E9FA}"/>
              </a:ext>
            </a:extLst>
          </p:cNvPr>
          <p:cNvSpPr txBox="1"/>
          <p:nvPr/>
        </p:nvSpPr>
        <p:spPr>
          <a:xfrm>
            <a:off x="215793" y="1804382"/>
            <a:ext cx="5373276" cy="53719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065" marR="5080">
              <a:lnSpc>
                <a:spcPct val="101299"/>
              </a:lnSpc>
              <a:spcBef>
                <a:spcPts val="90"/>
              </a:spcBef>
            </a:pPr>
            <a:r>
              <a:rPr lang="pt-PT" sz="3600" b="1" dirty="0">
                <a:solidFill>
                  <a:schemeClr val="accent2"/>
                </a:solidFill>
                <a:cs typeface="TTFirsNeue-DemiBold"/>
              </a:rPr>
              <a:t>Introdução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C3CD9E4-B14E-C776-A9E6-67BFCB58CC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9702" y="351472"/>
            <a:ext cx="3035276" cy="1052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95569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 descr="Text&#10;&#10;Description automatically generated with low confidence">
            <a:extLst>
              <a:ext uri="{FF2B5EF4-FFF2-40B4-BE49-F238E27FC236}">
                <a16:creationId xmlns:a16="http://schemas.microsoft.com/office/drawing/2014/main" id="{6B66E7D8-0A44-88AD-DB88-F5FC91BAB29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8568" r="66678" b="28168"/>
          <a:stretch/>
        </p:blipFill>
        <p:spPr>
          <a:xfrm>
            <a:off x="29574" y="231872"/>
            <a:ext cx="3675034" cy="1291942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E652BB1-DEC9-900F-C17F-A90B6A934859}"/>
              </a:ext>
            </a:extLst>
          </p:cNvPr>
          <p:cNvCxnSpPr>
            <a:cxnSpLocks/>
          </p:cNvCxnSpPr>
          <p:nvPr/>
        </p:nvCxnSpPr>
        <p:spPr>
          <a:xfrm>
            <a:off x="218993" y="1743075"/>
            <a:ext cx="11781418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object 10">
            <a:extLst>
              <a:ext uri="{FF2B5EF4-FFF2-40B4-BE49-F238E27FC236}">
                <a16:creationId xmlns:a16="http://schemas.microsoft.com/office/drawing/2014/main" id="{BA7E8E6F-8C37-C7A8-4170-F871B39DFD5E}"/>
              </a:ext>
            </a:extLst>
          </p:cNvPr>
          <p:cNvSpPr txBox="1"/>
          <p:nvPr/>
        </p:nvSpPr>
        <p:spPr>
          <a:xfrm>
            <a:off x="242951" y="2394079"/>
            <a:ext cx="11757460" cy="475130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r>
              <a:rPr lang="pt-PT" sz="2800" dirty="0"/>
              <a:t>Optou-se por um sistema com três interfaces distintas:</a:t>
            </a:r>
          </a:p>
          <a:p>
            <a:endParaRPr lang="pt-PT" sz="2800" dirty="0"/>
          </a:p>
          <a:p>
            <a:r>
              <a:rPr lang="pt-PT" sz="2800" b="1" dirty="0"/>
              <a:t>Cliente</a:t>
            </a:r>
            <a:r>
              <a:rPr lang="pt-PT" sz="2800" dirty="0"/>
              <a:t>: Para utilizadores finais agendarem serviços, compararem técnicos e acompanharem o progresso.</a:t>
            </a:r>
          </a:p>
          <a:p>
            <a:endParaRPr lang="pt-PT" sz="2800" dirty="0"/>
          </a:p>
          <a:p>
            <a:r>
              <a:rPr lang="pt-PT" sz="2800" b="1" dirty="0"/>
              <a:t>Técnico</a:t>
            </a:r>
            <a:r>
              <a:rPr lang="pt-PT" sz="2800" dirty="0"/>
              <a:t>: Para profissionais gerirem os seus perfis, aceitarem trabalhos e atualizarem o estado dos serviços.</a:t>
            </a:r>
          </a:p>
          <a:p>
            <a:endParaRPr lang="pt-PT" sz="2800" dirty="0"/>
          </a:p>
          <a:p>
            <a:r>
              <a:rPr lang="pt-PT" sz="2800" b="1" dirty="0"/>
              <a:t>Administrador</a:t>
            </a:r>
            <a:r>
              <a:rPr lang="pt-PT" sz="2800" dirty="0"/>
              <a:t>: Para a equipa da plataforma supervisionar operações, validar técnicos e gerir o sistema geral.</a:t>
            </a:r>
          </a:p>
          <a:p>
            <a:endParaRPr lang="pt-PT" sz="2800" dirty="0"/>
          </a:p>
        </p:txBody>
      </p:sp>
      <p:sp>
        <p:nvSpPr>
          <p:cNvPr id="2" name="object 10">
            <a:extLst>
              <a:ext uri="{FF2B5EF4-FFF2-40B4-BE49-F238E27FC236}">
                <a16:creationId xmlns:a16="http://schemas.microsoft.com/office/drawing/2014/main" id="{946C43C7-8C16-01D2-DE92-5E288883E9FA}"/>
              </a:ext>
            </a:extLst>
          </p:cNvPr>
          <p:cNvSpPr txBox="1"/>
          <p:nvPr/>
        </p:nvSpPr>
        <p:spPr>
          <a:xfrm>
            <a:off x="337063" y="1856881"/>
            <a:ext cx="5373276" cy="53719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065" marR="5080">
              <a:lnSpc>
                <a:spcPct val="101299"/>
              </a:lnSpc>
              <a:spcBef>
                <a:spcPts val="90"/>
              </a:spcBef>
            </a:pPr>
            <a:r>
              <a:rPr lang="pt-PT" sz="3600" b="1" dirty="0">
                <a:solidFill>
                  <a:schemeClr val="accent2"/>
                </a:solidFill>
                <a:cs typeface="TTFirsNeue-DemiBold"/>
              </a:rPr>
              <a:t>Introdução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C3CD9E4-B14E-C776-A9E6-67BFCB58CC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0339" y="307928"/>
            <a:ext cx="3035276" cy="1052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18356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 descr="Text&#10;&#10;Description automatically generated with low confidence">
            <a:extLst>
              <a:ext uri="{FF2B5EF4-FFF2-40B4-BE49-F238E27FC236}">
                <a16:creationId xmlns:a16="http://schemas.microsoft.com/office/drawing/2014/main" id="{6B66E7D8-0A44-88AD-DB88-F5FC91BAB29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8568" r="66678" b="28168"/>
          <a:stretch/>
        </p:blipFill>
        <p:spPr>
          <a:xfrm>
            <a:off x="29574" y="231872"/>
            <a:ext cx="3675034" cy="1291942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E652BB1-DEC9-900F-C17F-A90B6A934859}"/>
              </a:ext>
            </a:extLst>
          </p:cNvPr>
          <p:cNvCxnSpPr>
            <a:cxnSpLocks/>
          </p:cNvCxnSpPr>
          <p:nvPr/>
        </p:nvCxnSpPr>
        <p:spPr>
          <a:xfrm>
            <a:off x="218993" y="1743075"/>
            <a:ext cx="11781418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object 10">
            <a:extLst>
              <a:ext uri="{FF2B5EF4-FFF2-40B4-BE49-F238E27FC236}">
                <a16:creationId xmlns:a16="http://schemas.microsoft.com/office/drawing/2014/main" id="{BA7E8E6F-8C37-C7A8-4170-F871B39DFD5E}"/>
              </a:ext>
            </a:extLst>
          </p:cNvPr>
          <p:cNvSpPr txBox="1"/>
          <p:nvPr/>
        </p:nvSpPr>
        <p:spPr>
          <a:xfrm>
            <a:off x="217270" y="1849791"/>
            <a:ext cx="11757460" cy="489602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r>
              <a:rPr lang="pt-PT" sz="2800" b="1" dirty="0">
                <a:solidFill>
                  <a:schemeClr val="accent2"/>
                </a:solidFill>
              </a:rPr>
              <a:t>Interface Cliente:</a:t>
            </a:r>
          </a:p>
          <a:p>
            <a:r>
              <a:rPr lang="pt-PT" b="1" dirty="0"/>
              <a:t>Objetivo</a:t>
            </a:r>
            <a:r>
              <a:rPr lang="pt-PT" dirty="0"/>
              <a:t>: Permitir aos utilizadores finais gerirem pedidos de manutenção de forma autónoma, desde a criação até à avaliação.</a:t>
            </a:r>
          </a:p>
          <a:p>
            <a:endParaRPr lang="pt-PT" dirty="0"/>
          </a:p>
          <a:p>
            <a:r>
              <a:rPr lang="pt-PT" b="1" dirty="0"/>
              <a:t>Funcionalidades Principais</a:t>
            </a:r>
            <a:r>
              <a:rPr lang="pt-PT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b="1" dirty="0" err="1"/>
              <a:t>Dashboard</a:t>
            </a:r>
            <a:r>
              <a:rPr lang="pt-PT" dirty="0"/>
              <a:t>: Ver pedidos ativos/passados, criar novos pedidos (com upload de imagens/vídeos, categoria e data preferencial), acompanhar progresso e avaliar serviços concluídos (rating 1-5 estrelas + comentário).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b="1" dirty="0"/>
              <a:t>Novo Pedido</a:t>
            </a:r>
            <a:r>
              <a:rPr lang="pt-PT" dirty="0"/>
              <a:t>: Formulário detalhado para descrição, seleção de categoria e média.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b="1" dirty="0"/>
              <a:t>Chat</a:t>
            </a:r>
            <a:r>
              <a:rPr lang="pt-PT" dirty="0"/>
              <a:t>: Comunicação em tempo real com o técnico atribuído, com notificações de mensagens não lidas.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b="1" dirty="0"/>
              <a:t>Serviços com Feedback</a:t>
            </a:r>
            <a:r>
              <a:rPr lang="pt-PT" dirty="0"/>
              <a:t>: Página pública para ver avaliações de serviços concluídos.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b="1" dirty="0"/>
              <a:t>Perfil</a:t>
            </a:r>
            <a:r>
              <a:rPr lang="pt-PT" dirty="0"/>
              <a:t>: Editar dados pessoais, upload de avatar, eliminar conta.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b="1" dirty="0"/>
              <a:t>Fluxo Típico</a:t>
            </a:r>
            <a:r>
              <a:rPr lang="pt-PT" dirty="0"/>
              <a:t>: Criar pedido → Receber notificações → Comunicar via chat → Avaliar após conclusão.</a:t>
            </a:r>
          </a:p>
          <a:p>
            <a:endParaRPr lang="pt-PT" b="1" dirty="0"/>
          </a:p>
          <a:p>
            <a:r>
              <a:rPr lang="pt-PT" b="1" dirty="0"/>
              <a:t>Destaques</a:t>
            </a:r>
            <a:r>
              <a:rPr lang="pt-PT" dirty="0"/>
              <a:t>: Foco na simplicidade e transparência; notificações por email para atualizações.</a:t>
            </a:r>
          </a:p>
          <a:p>
            <a:endParaRPr lang="pt-PT" sz="2800" dirty="0">
              <a:solidFill>
                <a:schemeClr val="accent2"/>
              </a:solidFill>
            </a:endParaRPr>
          </a:p>
          <a:p>
            <a:pPr marL="12065" marR="5080">
              <a:lnSpc>
                <a:spcPct val="101299"/>
              </a:lnSpc>
              <a:spcBef>
                <a:spcPts val="90"/>
              </a:spcBef>
            </a:pPr>
            <a:endParaRPr lang="en-GB" sz="2800" dirty="0">
              <a:cs typeface="TTFirsNeue-DemiBold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C3CD9E4-B14E-C776-A9E6-67BFCB58CC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2091" y="257504"/>
            <a:ext cx="3035276" cy="1052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29969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420CBA-8EFE-C2CC-A328-1B20483519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 descr="Text&#10;&#10;Description automatically generated with low confidence">
            <a:extLst>
              <a:ext uri="{FF2B5EF4-FFF2-40B4-BE49-F238E27FC236}">
                <a16:creationId xmlns:a16="http://schemas.microsoft.com/office/drawing/2014/main" id="{B555B519-7A1E-E11B-3807-9EBF357860A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8568" r="66678" b="28168"/>
          <a:stretch/>
        </p:blipFill>
        <p:spPr>
          <a:xfrm>
            <a:off x="29574" y="231872"/>
            <a:ext cx="3675034" cy="1291942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D7590DB-D425-65CF-4D6F-978F2293713C}"/>
              </a:ext>
            </a:extLst>
          </p:cNvPr>
          <p:cNvCxnSpPr>
            <a:cxnSpLocks/>
          </p:cNvCxnSpPr>
          <p:nvPr/>
        </p:nvCxnSpPr>
        <p:spPr>
          <a:xfrm>
            <a:off x="218993" y="1743075"/>
            <a:ext cx="11781418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object 10">
            <a:extLst>
              <a:ext uri="{FF2B5EF4-FFF2-40B4-BE49-F238E27FC236}">
                <a16:creationId xmlns:a16="http://schemas.microsoft.com/office/drawing/2014/main" id="{2C41D692-7011-F537-0D05-47BC5E309863}"/>
              </a:ext>
            </a:extLst>
          </p:cNvPr>
          <p:cNvSpPr txBox="1"/>
          <p:nvPr/>
        </p:nvSpPr>
        <p:spPr>
          <a:xfrm>
            <a:off x="242951" y="1956643"/>
            <a:ext cx="11757460" cy="4557466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r>
              <a:rPr lang="pt-PT" sz="2800" b="1" dirty="0">
                <a:solidFill>
                  <a:schemeClr val="accent2"/>
                </a:solidFill>
              </a:rPr>
              <a:t>Interface do Técnico</a:t>
            </a:r>
            <a:endParaRPr lang="pt-PT" sz="2800" dirty="0">
              <a:solidFill>
                <a:schemeClr val="accent2"/>
              </a:solidFill>
            </a:endParaRPr>
          </a:p>
          <a:p>
            <a:r>
              <a:rPr lang="pt-PT" b="1" dirty="0"/>
              <a:t>Objetivo</a:t>
            </a:r>
            <a:r>
              <a:rPr lang="pt-PT" dirty="0"/>
              <a:t>: Capacitar profissionais a gerirem o seu trabalho, aceitando pedidos e atualizando estados de forma eficiente.</a:t>
            </a:r>
          </a:p>
          <a:p>
            <a:endParaRPr lang="pt-PT" dirty="0"/>
          </a:p>
          <a:p>
            <a:r>
              <a:rPr lang="pt-PT" b="1" dirty="0"/>
              <a:t>Funcionalidades Principais</a:t>
            </a:r>
            <a:r>
              <a:rPr lang="pt-PT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b="1" dirty="0" err="1"/>
              <a:t>Dashboard</a:t>
            </a:r>
            <a:r>
              <a:rPr lang="pt-PT" dirty="0"/>
              <a:t>: Ver pedidos disponíveis na sua categoria de especialização, aceitar/rejeitar, atualizar estado (pendente → em progresso → concluído), definir preço e gerar fatura PDF.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b="1" dirty="0"/>
              <a:t>Chat</a:t>
            </a:r>
            <a:r>
              <a:rPr lang="pt-PT" dirty="0"/>
              <a:t>: Comunicação direta com clientes, com atualização automática de mensagens.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b="1" dirty="0"/>
              <a:t>Perfil</a:t>
            </a:r>
            <a:r>
              <a:rPr lang="pt-PT" dirty="0"/>
              <a:t>: Gerir especializações, dados pessoais e avatar.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b="1" dirty="0"/>
              <a:t>Fluxo Típico</a:t>
            </a:r>
            <a:r>
              <a:rPr lang="pt-PT" dirty="0"/>
              <a:t>: Ver pedidos disponíveis → Aceitar → Comunicar via chat → Concluir serviço → Receber feedback.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b="1" dirty="0"/>
              <a:t>Destaques</a:t>
            </a:r>
            <a:r>
              <a:rPr lang="pt-PT" dirty="0"/>
              <a:t>: Acesso a pedidos filtrados por categoria; validação de técnicos pela equipa </a:t>
            </a:r>
            <a:r>
              <a:rPr lang="pt-PT" dirty="0" err="1"/>
              <a:t>admin</a:t>
            </a:r>
            <a:r>
              <a:rPr lang="pt-PT" dirty="0"/>
              <a:t>; notificações para novos pedidos.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PT" sz="2400" dirty="0"/>
          </a:p>
          <a:p>
            <a:pPr marL="354965" marR="5080" indent="-342900">
              <a:lnSpc>
                <a:spcPct val="101299"/>
              </a:lnSpc>
              <a:spcBef>
                <a:spcPts val="90"/>
              </a:spcBef>
              <a:buBlip>
                <a:blip r:embed="rId3"/>
              </a:buBlip>
            </a:pPr>
            <a:endParaRPr lang="en-GB" sz="2800" dirty="0">
              <a:cs typeface="TTFirsNeue-DemiBold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6D99150-C588-BCA2-2FBE-7232942B8E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7187" y="257504"/>
            <a:ext cx="3035276" cy="1052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73919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FBB019-3002-8A88-BA31-0042B6ED0B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 descr="Text&#10;&#10;Description automatically generated with low confidence">
            <a:extLst>
              <a:ext uri="{FF2B5EF4-FFF2-40B4-BE49-F238E27FC236}">
                <a16:creationId xmlns:a16="http://schemas.microsoft.com/office/drawing/2014/main" id="{1CE5620A-7A84-C6D3-F948-E527ECFB259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8568" r="66678" b="28168"/>
          <a:stretch/>
        </p:blipFill>
        <p:spPr>
          <a:xfrm>
            <a:off x="29574" y="231872"/>
            <a:ext cx="3675034" cy="1291942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43A1387-8FC4-DA6B-891D-2AE7086316EA}"/>
              </a:ext>
            </a:extLst>
          </p:cNvPr>
          <p:cNvCxnSpPr>
            <a:cxnSpLocks/>
          </p:cNvCxnSpPr>
          <p:nvPr/>
        </p:nvCxnSpPr>
        <p:spPr>
          <a:xfrm>
            <a:off x="218993" y="1743075"/>
            <a:ext cx="11781418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object 10">
            <a:extLst>
              <a:ext uri="{FF2B5EF4-FFF2-40B4-BE49-F238E27FC236}">
                <a16:creationId xmlns:a16="http://schemas.microsoft.com/office/drawing/2014/main" id="{9E368F35-113F-F4F4-9A5F-DCF4056C3244}"/>
              </a:ext>
            </a:extLst>
          </p:cNvPr>
          <p:cNvSpPr txBox="1"/>
          <p:nvPr/>
        </p:nvSpPr>
        <p:spPr>
          <a:xfrm>
            <a:off x="242951" y="1956643"/>
            <a:ext cx="11757460" cy="4557466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r>
              <a:rPr lang="pt-PT" sz="2800" b="1" dirty="0">
                <a:solidFill>
                  <a:schemeClr val="accent2"/>
                </a:solidFill>
              </a:rPr>
              <a:t>Interface do Administrador</a:t>
            </a:r>
            <a:endParaRPr lang="pt-PT" sz="2800" dirty="0">
              <a:solidFill>
                <a:schemeClr val="accent2"/>
              </a:solidFill>
            </a:endParaRPr>
          </a:p>
          <a:p>
            <a:r>
              <a:rPr lang="pt-PT" b="1" dirty="0"/>
              <a:t>Objetivo</a:t>
            </a:r>
            <a:r>
              <a:rPr lang="pt-PT" dirty="0"/>
              <a:t>: Supervisionar e gerir o sistema global, garantindo qualidade e operação suave.</a:t>
            </a:r>
          </a:p>
          <a:p>
            <a:endParaRPr lang="pt-PT" dirty="0"/>
          </a:p>
          <a:p>
            <a:r>
              <a:rPr lang="pt-PT" b="1" dirty="0"/>
              <a:t>Funcionalidades Principais</a:t>
            </a:r>
            <a:r>
              <a:rPr lang="pt-PT" dirty="0"/>
              <a:t>:</a:t>
            </a:r>
            <a:endParaRPr lang="pt-PT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b="1" dirty="0" err="1"/>
              <a:t>Dashboard</a:t>
            </a:r>
            <a:r>
              <a:rPr lang="pt-PT" dirty="0"/>
              <a:t>: Visão completa de todos os utilizadores (clientes/técnicos), pedidos, feedbacks e mensagens; validar/eliminar contas de técnicos; gerir dados do sistema.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b="1" dirty="0"/>
              <a:t>Gestão de Utilizadores</a:t>
            </a:r>
            <a:r>
              <a:rPr lang="pt-PT" dirty="0"/>
              <a:t>: Aprovar técnicos, ver estatísticas (ex.: 500+ serviços), bloquear contas problemáticas.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b="1" dirty="0"/>
              <a:t>Painel de Feedbacks</a:t>
            </a:r>
            <a:r>
              <a:rPr lang="pt-PT" dirty="0"/>
              <a:t>: Moderar avaliações públicas.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b="1" dirty="0"/>
              <a:t>Outros</a:t>
            </a:r>
            <a:r>
              <a:rPr lang="pt-PT" dirty="0"/>
              <a:t>: Acesso a rotas administrativas para CRUD de dados, sem funcionalidades de criação de pedidos ou chat cliente-técnico.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b="1" dirty="0"/>
              <a:t>Fluxo Típico</a:t>
            </a:r>
            <a:r>
              <a:rPr lang="pt-PT" dirty="0"/>
              <a:t>: Monitorizar pedidos → Validar técnicos → Intervir em conflitos → Analisar métricas.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b="1" dirty="0"/>
              <a:t>Destaques</a:t>
            </a:r>
            <a:r>
              <a:rPr lang="pt-PT" dirty="0"/>
              <a:t>: Controlo total; ferramentas para manutenção (ex.: scripts de BD); sem exposição a funcionalidades de utilizador final.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PT" sz="2400" dirty="0"/>
          </a:p>
          <a:p>
            <a:pPr marL="354965" marR="5080" indent="-342900">
              <a:lnSpc>
                <a:spcPct val="101299"/>
              </a:lnSpc>
              <a:spcBef>
                <a:spcPts val="90"/>
              </a:spcBef>
              <a:buBlip>
                <a:blip r:embed="rId3"/>
              </a:buBlip>
            </a:pPr>
            <a:endParaRPr lang="en-GB" sz="2800" dirty="0">
              <a:cs typeface="TTFirsNeue-DemiBold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AE85089-2794-9C00-7D7D-6BDE0B0058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7187" y="257504"/>
            <a:ext cx="3035276" cy="1052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6343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74E4E4-1F86-E107-66ED-9AB4DAAC35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 descr="Text&#10;&#10;Description automatically generated with low confidence">
            <a:extLst>
              <a:ext uri="{FF2B5EF4-FFF2-40B4-BE49-F238E27FC236}">
                <a16:creationId xmlns:a16="http://schemas.microsoft.com/office/drawing/2014/main" id="{26126006-C9B0-9949-2F10-4978AEE4A39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8568" r="66678" b="28168"/>
          <a:stretch/>
        </p:blipFill>
        <p:spPr>
          <a:xfrm>
            <a:off x="29574" y="231872"/>
            <a:ext cx="3675034" cy="1291942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1078FE5-A08C-BE26-F5D1-F8A8903D5957}"/>
              </a:ext>
            </a:extLst>
          </p:cNvPr>
          <p:cNvCxnSpPr>
            <a:cxnSpLocks/>
          </p:cNvCxnSpPr>
          <p:nvPr/>
        </p:nvCxnSpPr>
        <p:spPr>
          <a:xfrm>
            <a:off x="218993" y="1743075"/>
            <a:ext cx="11781418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object 10">
            <a:extLst>
              <a:ext uri="{FF2B5EF4-FFF2-40B4-BE49-F238E27FC236}">
                <a16:creationId xmlns:a16="http://schemas.microsoft.com/office/drawing/2014/main" id="{29B89CF6-CAB3-7788-C1AB-3A12234D3BEB}"/>
              </a:ext>
            </a:extLst>
          </p:cNvPr>
          <p:cNvSpPr txBox="1"/>
          <p:nvPr/>
        </p:nvSpPr>
        <p:spPr>
          <a:xfrm>
            <a:off x="242951" y="1956643"/>
            <a:ext cx="11757460" cy="301858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r>
              <a:rPr lang="pt-PT" sz="2800" b="1" dirty="0">
                <a:solidFill>
                  <a:schemeClr val="accent2"/>
                </a:solidFill>
              </a:rPr>
              <a:t>Notas Gerais</a:t>
            </a:r>
            <a:r>
              <a:rPr lang="pt-PT" sz="2800" dirty="0">
                <a:solidFill>
                  <a:schemeClr val="accent2"/>
                </a:solidFill>
              </a:rPr>
              <a:t>: </a:t>
            </a:r>
            <a:endParaRPr lang="pt-P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2800" dirty="0"/>
              <a:t>Todas as interfaces partilham elementos como </a:t>
            </a:r>
            <a:r>
              <a:rPr lang="pt-PT" sz="2800" dirty="0" err="1"/>
              <a:t>navbar</a:t>
            </a:r>
            <a:r>
              <a:rPr lang="pt-PT" sz="2800" dirty="0"/>
              <a:t>, </a:t>
            </a:r>
            <a:r>
              <a:rPr lang="pt-PT" sz="2800" dirty="0" err="1"/>
              <a:t>footer</a:t>
            </a:r>
            <a:r>
              <a:rPr lang="pt-PT" sz="2800" dirty="0"/>
              <a:t>, </a:t>
            </a:r>
            <a:r>
              <a:rPr lang="pt-PT" sz="2800" dirty="0" err="1"/>
              <a:t>loading</a:t>
            </a:r>
            <a:r>
              <a:rPr lang="pt-PT" sz="2800" dirty="0"/>
              <a:t> </a:t>
            </a:r>
            <a:r>
              <a:rPr lang="pt-PT" sz="2800" dirty="0" err="1"/>
              <a:t>states</a:t>
            </a:r>
            <a:r>
              <a:rPr lang="pt-PT" sz="2800" dirty="0"/>
              <a:t> e error handling. O </a:t>
            </a:r>
            <a:r>
              <a:rPr lang="pt-PT" sz="2800" dirty="0" err="1"/>
              <a:t>frontend</a:t>
            </a:r>
            <a:r>
              <a:rPr lang="pt-PT" sz="2800" dirty="0"/>
              <a:t> usa </a:t>
            </a:r>
            <a:r>
              <a:rPr lang="pt-PT" sz="2800" dirty="0" err="1"/>
              <a:t>React</a:t>
            </a:r>
            <a:r>
              <a:rPr lang="pt-PT" sz="2800" dirty="0"/>
              <a:t> com </a:t>
            </a:r>
            <a:r>
              <a:rPr lang="pt-PT" sz="2800" dirty="0" err="1"/>
              <a:t>Context</a:t>
            </a:r>
            <a:r>
              <a:rPr lang="pt-PT" sz="2800" dirty="0"/>
              <a:t> API para estado global, e o </a:t>
            </a:r>
            <a:r>
              <a:rPr lang="pt-PT" sz="2800" dirty="0" err="1"/>
              <a:t>backend</a:t>
            </a:r>
            <a:r>
              <a:rPr lang="pt-PT" sz="2800" dirty="0"/>
              <a:t> assegura segurança via JWT. Para apresentações, foque em </a:t>
            </a:r>
            <a:r>
              <a:rPr lang="pt-PT" sz="2800" dirty="0" err="1"/>
              <a:t>screenshots</a:t>
            </a:r>
            <a:r>
              <a:rPr lang="pt-PT" sz="2800" dirty="0"/>
              <a:t> ou </a:t>
            </a:r>
            <a:r>
              <a:rPr lang="pt-PT" sz="2800" dirty="0" err="1"/>
              <a:t>wireframes</a:t>
            </a:r>
            <a:r>
              <a:rPr lang="pt-PT" sz="2800" dirty="0"/>
              <a:t> das páginas-chave.</a:t>
            </a:r>
            <a:endParaRPr lang="pt-PT" sz="3600" dirty="0"/>
          </a:p>
          <a:p>
            <a:pPr marL="354965" marR="5080" indent="-342900">
              <a:lnSpc>
                <a:spcPct val="101299"/>
              </a:lnSpc>
              <a:spcBef>
                <a:spcPts val="90"/>
              </a:spcBef>
              <a:buBlip>
                <a:blip r:embed="rId3"/>
              </a:buBlip>
            </a:pPr>
            <a:endParaRPr lang="en-GB" sz="2800" dirty="0">
              <a:cs typeface="TTFirsNeue-DemiBold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DA299E8-134A-A95D-9E9C-84B03B6DAD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7187" y="257504"/>
            <a:ext cx="3035276" cy="1052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10802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 descr="Text&#10;&#10;Description automatically generated with low confidence">
            <a:extLst>
              <a:ext uri="{FF2B5EF4-FFF2-40B4-BE49-F238E27FC236}">
                <a16:creationId xmlns:a16="http://schemas.microsoft.com/office/drawing/2014/main" id="{6B66E7D8-0A44-88AD-DB88-F5FC91BAB29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8568" r="66678" b="28168"/>
          <a:stretch/>
        </p:blipFill>
        <p:spPr>
          <a:xfrm>
            <a:off x="29574" y="231872"/>
            <a:ext cx="3675034" cy="1291942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E652BB1-DEC9-900F-C17F-A90B6A934859}"/>
              </a:ext>
            </a:extLst>
          </p:cNvPr>
          <p:cNvCxnSpPr>
            <a:cxnSpLocks/>
          </p:cNvCxnSpPr>
          <p:nvPr/>
        </p:nvCxnSpPr>
        <p:spPr>
          <a:xfrm>
            <a:off x="218993" y="1743075"/>
            <a:ext cx="11781418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object 10">
            <a:extLst>
              <a:ext uri="{FF2B5EF4-FFF2-40B4-BE49-F238E27FC236}">
                <a16:creationId xmlns:a16="http://schemas.microsoft.com/office/drawing/2014/main" id="{BA7E8E6F-8C37-C7A8-4170-F871B39DFD5E}"/>
              </a:ext>
            </a:extLst>
          </p:cNvPr>
          <p:cNvSpPr txBox="1"/>
          <p:nvPr/>
        </p:nvSpPr>
        <p:spPr>
          <a:xfrm>
            <a:off x="137073" y="1910296"/>
            <a:ext cx="11757460" cy="2966197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r>
              <a:rPr lang="pt-PT" sz="2800" b="1" dirty="0">
                <a:solidFill>
                  <a:schemeClr val="accent2"/>
                </a:solidFill>
              </a:rPr>
              <a:t>Vantagens deste website</a:t>
            </a:r>
            <a:endParaRPr lang="pt-PT" sz="2800" dirty="0">
              <a:solidFill>
                <a:schemeClr val="accent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2800" dirty="0"/>
              <a:t>Conectividade e Acesso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2800" dirty="0"/>
              <a:t>Eficiência e Rapidez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2800" dirty="0"/>
              <a:t>Segurança e Confiança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2800" dirty="0"/>
              <a:t>Usabilidade e Design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2800" dirty="0"/>
              <a:t>Escalabilidade e Tecnologia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C336AE8-18E2-E6BE-6C2B-50EE561E6D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9795" y="303851"/>
            <a:ext cx="3035276" cy="1052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01163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 descr="Text&#10;&#10;Description automatically generated with low confidence">
            <a:extLst>
              <a:ext uri="{FF2B5EF4-FFF2-40B4-BE49-F238E27FC236}">
                <a16:creationId xmlns:a16="http://schemas.microsoft.com/office/drawing/2014/main" id="{6B66E7D8-0A44-88AD-DB88-F5FC91BAB29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8568" r="66678" b="28168"/>
          <a:stretch/>
        </p:blipFill>
        <p:spPr>
          <a:xfrm>
            <a:off x="29574" y="231872"/>
            <a:ext cx="3675034" cy="1291942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E652BB1-DEC9-900F-C17F-A90B6A934859}"/>
              </a:ext>
            </a:extLst>
          </p:cNvPr>
          <p:cNvCxnSpPr>
            <a:cxnSpLocks/>
          </p:cNvCxnSpPr>
          <p:nvPr/>
        </p:nvCxnSpPr>
        <p:spPr>
          <a:xfrm>
            <a:off x="218993" y="1743075"/>
            <a:ext cx="11781418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object 10">
            <a:extLst>
              <a:ext uri="{FF2B5EF4-FFF2-40B4-BE49-F238E27FC236}">
                <a16:creationId xmlns:a16="http://schemas.microsoft.com/office/drawing/2014/main" id="{BA7E8E6F-8C37-C7A8-4170-F871B39DFD5E}"/>
              </a:ext>
            </a:extLst>
          </p:cNvPr>
          <p:cNvSpPr txBox="1"/>
          <p:nvPr/>
        </p:nvSpPr>
        <p:spPr>
          <a:xfrm>
            <a:off x="242951" y="1910296"/>
            <a:ext cx="11757460" cy="51809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r>
              <a:rPr lang="pt-PT" sz="2400" b="1" dirty="0" err="1">
                <a:solidFill>
                  <a:schemeClr val="accent2"/>
                </a:solidFill>
              </a:rPr>
              <a:t>Frontend</a:t>
            </a:r>
            <a:endParaRPr lang="pt-PT" sz="2400" b="1" dirty="0">
              <a:solidFill>
                <a:schemeClr val="accent2"/>
              </a:solidFill>
            </a:endParaRPr>
          </a:p>
          <a:p>
            <a:r>
              <a:rPr lang="pt-PT" b="1" dirty="0"/>
              <a:t>Linguagem:</a:t>
            </a:r>
            <a:r>
              <a:rPr lang="pt-PT" dirty="0"/>
              <a:t> JavaScript (ES6+)</a:t>
            </a:r>
          </a:p>
          <a:p>
            <a:r>
              <a:rPr lang="pt-PT" b="1" dirty="0"/>
              <a:t>Framework:</a:t>
            </a:r>
            <a:r>
              <a:rPr lang="pt-PT" dirty="0"/>
              <a:t> </a:t>
            </a:r>
            <a:r>
              <a:rPr lang="pt-PT" dirty="0" err="1"/>
              <a:t>React</a:t>
            </a:r>
            <a:r>
              <a:rPr lang="pt-PT" dirty="0"/>
              <a:t> 19.1.1</a:t>
            </a:r>
          </a:p>
          <a:p>
            <a:r>
              <a:rPr lang="pt-PT" b="1" dirty="0" err="1"/>
              <a:t>Build</a:t>
            </a:r>
            <a:r>
              <a:rPr lang="pt-PT" b="1" dirty="0"/>
              <a:t> </a:t>
            </a:r>
            <a:r>
              <a:rPr lang="pt-PT" b="1" dirty="0" err="1"/>
              <a:t>Tool</a:t>
            </a:r>
            <a:r>
              <a:rPr lang="pt-PT" b="1" dirty="0"/>
              <a:t>:</a:t>
            </a:r>
            <a:r>
              <a:rPr lang="pt-PT" dirty="0"/>
              <a:t> </a:t>
            </a:r>
            <a:r>
              <a:rPr lang="pt-PT" dirty="0" err="1"/>
              <a:t>Vite</a:t>
            </a:r>
            <a:r>
              <a:rPr lang="pt-PT" dirty="0"/>
              <a:t> 7.1.7</a:t>
            </a:r>
          </a:p>
          <a:p>
            <a:r>
              <a:rPr lang="pt-PT" b="1" dirty="0"/>
              <a:t>Roteamento:</a:t>
            </a:r>
            <a:r>
              <a:rPr lang="pt-PT" dirty="0"/>
              <a:t> </a:t>
            </a:r>
            <a:r>
              <a:rPr lang="pt-PT" dirty="0" err="1"/>
              <a:t>React</a:t>
            </a:r>
            <a:r>
              <a:rPr lang="pt-PT" dirty="0"/>
              <a:t> Router DOM</a:t>
            </a:r>
          </a:p>
          <a:p>
            <a:r>
              <a:rPr lang="pt-PT" b="1" dirty="0"/>
              <a:t>HTTP:</a:t>
            </a:r>
            <a:r>
              <a:rPr lang="pt-PT" dirty="0"/>
              <a:t> </a:t>
            </a:r>
            <a:r>
              <a:rPr lang="pt-PT" dirty="0" err="1"/>
              <a:t>Axios</a:t>
            </a:r>
            <a:endParaRPr lang="pt-PT" dirty="0"/>
          </a:p>
          <a:p>
            <a:r>
              <a:rPr lang="pt-PT" b="1" dirty="0"/>
              <a:t>UI:</a:t>
            </a:r>
            <a:r>
              <a:rPr lang="pt-PT" dirty="0"/>
              <a:t> </a:t>
            </a:r>
            <a:r>
              <a:rPr lang="pt-PT" dirty="0" err="1"/>
              <a:t>Bootstrap</a:t>
            </a:r>
            <a:r>
              <a:rPr lang="pt-PT" dirty="0"/>
              <a:t> 5.3.8</a:t>
            </a:r>
          </a:p>
          <a:p>
            <a:r>
              <a:rPr lang="pt-PT" b="1" dirty="0"/>
              <a:t>Estado Global:</a:t>
            </a:r>
            <a:r>
              <a:rPr lang="pt-PT" dirty="0"/>
              <a:t> </a:t>
            </a:r>
            <a:r>
              <a:rPr lang="pt-PT" dirty="0" err="1"/>
              <a:t>React</a:t>
            </a:r>
            <a:r>
              <a:rPr lang="pt-PT" dirty="0"/>
              <a:t> </a:t>
            </a:r>
            <a:r>
              <a:rPr lang="pt-PT" dirty="0" err="1"/>
              <a:t>Context</a:t>
            </a:r>
            <a:r>
              <a:rPr lang="pt-PT" dirty="0"/>
              <a:t> API</a:t>
            </a:r>
          </a:p>
          <a:p>
            <a:pPr algn="ctr"/>
            <a:br>
              <a:rPr lang="pt-PT" dirty="0"/>
            </a:br>
            <a:endParaRPr lang="pt-PT" dirty="0"/>
          </a:p>
          <a:p>
            <a:endParaRPr lang="pt-PT" dirty="0"/>
          </a:p>
          <a:p>
            <a:r>
              <a:rPr lang="pt-PT" sz="2400" b="1" dirty="0">
                <a:solidFill>
                  <a:schemeClr val="accent2"/>
                </a:solidFill>
              </a:rPr>
              <a:t>Base de Dados / Infraestrutura</a:t>
            </a:r>
          </a:p>
          <a:p>
            <a:r>
              <a:rPr lang="pt-PT" b="1" dirty="0"/>
              <a:t>Base de Dados:</a:t>
            </a:r>
            <a:r>
              <a:rPr lang="pt-PT" dirty="0"/>
              <a:t> </a:t>
            </a:r>
            <a:r>
              <a:rPr lang="pt-PT" dirty="0" err="1"/>
              <a:t>PostgreSQL</a:t>
            </a:r>
            <a:r>
              <a:rPr lang="pt-PT" dirty="0"/>
              <a:t> (</a:t>
            </a:r>
            <a:r>
              <a:rPr lang="pt-PT" dirty="0" err="1"/>
              <a:t>Neon</a:t>
            </a:r>
            <a:r>
              <a:rPr lang="pt-PT" dirty="0"/>
              <a:t>)</a:t>
            </a:r>
          </a:p>
          <a:p>
            <a:r>
              <a:rPr lang="pt-PT" b="1" dirty="0" err="1"/>
              <a:t>Deploy</a:t>
            </a:r>
            <a:r>
              <a:rPr lang="pt-PT" b="1" dirty="0"/>
              <a:t> </a:t>
            </a:r>
            <a:r>
              <a:rPr lang="pt-PT" b="1" dirty="0" err="1"/>
              <a:t>Backend</a:t>
            </a:r>
            <a:r>
              <a:rPr lang="pt-PT" b="1" dirty="0"/>
              <a:t>:</a:t>
            </a:r>
            <a:r>
              <a:rPr lang="pt-PT" dirty="0"/>
              <a:t> </a:t>
            </a:r>
            <a:r>
              <a:rPr lang="pt-PT" dirty="0" err="1"/>
              <a:t>Railway</a:t>
            </a:r>
            <a:r>
              <a:rPr lang="pt-PT" dirty="0"/>
              <a:t> </a:t>
            </a:r>
          </a:p>
          <a:p>
            <a:r>
              <a:rPr lang="pt-PT" b="1" dirty="0" err="1"/>
              <a:t>Deploy</a:t>
            </a:r>
            <a:r>
              <a:rPr lang="pt-PT" b="1" dirty="0"/>
              <a:t> </a:t>
            </a:r>
            <a:r>
              <a:rPr lang="pt-PT" b="1" dirty="0" err="1"/>
              <a:t>Frontend</a:t>
            </a:r>
            <a:r>
              <a:rPr lang="pt-PT" b="1" dirty="0"/>
              <a:t>:</a:t>
            </a:r>
            <a:r>
              <a:rPr lang="pt-PT" dirty="0"/>
              <a:t> </a:t>
            </a:r>
            <a:r>
              <a:rPr lang="pt-PT" dirty="0" err="1"/>
              <a:t>Vercel</a:t>
            </a:r>
            <a:endParaRPr lang="pt-PT" dirty="0"/>
          </a:p>
          <a:p>
            <a:r>
              <a:rPr lang="pt-PT" b="1" dirty="0" err="1"/>
              <a:t>Storage</a:t>
            </a:r>
            <a:r>
              <a:rPr lang="pt-PT" b="1" dirty="0"/>
              <a:t>:</a:t>
            </a:r>
            <a:r>
              <a:rPr lang="pt-PT" dirty="0"/>
              <a:t> </a:t>
            </a:r>
            <a:r>
              <a:rPr lang="pt-PT" dirty="0" err="1"/>
              <a:t>Cloudinary</a:t>
            </a:r>
            <a:endParaRPr lang="pt-PT" dirty="0"/>
          </a:p>
          <a:p>
            <a:r>
              <a:rPr lang="pt-PT" b="1" dirty="0"/>
              <a:t>Email </a:t>
            </a:r>
            <a:r>
              <a:rPr lang="pt-PT" b="1" dirty="0" err="1"/>
              <a:t>Service</a:t>
            </a:r>
            <a:r>
              <a:rPr lang="pt-PT" b="1" dirty="0"/>
              <a:t>:</a:t>
            </a:r>
            <a:r>
              <a:rPr lang="pt-PT" dirty="0"/>
              <a:t> </a:t>
            </a:r>
            <a:r>
              <a:rPr lang="pt-PT" dirty="0" err="1"/>
              <a:t>Gmail</a:t>
            </a:r>
            <a:r>
              <a:rPr lang="pt-PT" dirty="0"/>
              <a:t> API</a:t>
            </a:r>
          </a:p>
          <a:p>
            <a:pPr marL="12065" marR="5080">
              <a:lnSpc>
                <a:spcPct val="101299"/>
              </a:lnSpc>
              <a:spcBef>
                <a:spcPts val="90"/>
              </a:spcBef>
            </a:pPr>
            <a:endParaRPr lang="pt-PT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6F3DA0A-5D1C-F444-DC54-4EBC7E97CE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8899" y="303851"/>
            <a:ext cx="3035276" cy="1052742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B493F62E-CDAC-2290-B36D-F11417BBF6F2}"/>
              </a:ext>
            </a:extLst>
          </p:cNvPr>
          <p:cNvSpPr txBox="1"/>
          <p:nvPr/>
        </p:nvSpPr>
        <p:spPr>
          <a:xfrm>
            <a:off x="4870532" y="1494368"/>
            <a:ext cx="4532010" cy="35086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br>
              <a:rPr lang="pt-PT" dirty="0"/>
            </a:br>
            <a:r>
              <a:rPr lang="pt-PT" sz="2400" b="1" dirty="0">
                <a:solidFill>
                  <a:schemeClr val="accent2"/>
                </a:solidFill>
              </a:rPr>
              <a:t> </a:t>
            </a:r>
            <a:r>
              <a:rPr lang="pt-PT" sz="2400" b="1" dirty="0" err="1">
                <a:solidFill>
                  <a:schemeClr val="accent2"/>
                </a:solidFill>
              </a:rPr>
              <a:t>Backend</a:t>
            </a:r>
            <a:endParaRPr lang="pt-PT" sz="2400" b="1" dirty="0">
              <a:solidFill>
                <a:schemeClr val="accent2"/>
              </a:solidFill>
            </a:endParaRPr>
          </a:p>
          <a:p>
            <a:r>
              <a:rPr lang="pt-PT" b="1" dirty="0"/>
              <a:t>Linguagem:</a:t>
            </a:r>
            <a:r>
              <a:rPr lang="pt-PT" dirty="0"/>
              <a:t> JavaScript (Node.js ≥18)</a:t>
            </a:r>
          </a:p>
          <a:p>
            <a:r>
              <a:rPr lang="pt-PT" b="1" dirty="0"/>
              <a:t>Framework:</a:t>
            </a:r>
            <a:r>
              <a:rPr lang="pt-PT" dirty="0"/>
              <a:t> Express.js 5.1.0</a:t>
            </a:r>
          </a:p>
          <a:p>
            <a:r>
              <a:rPr lang="pt-PT" b="1" dirty="0"/>
              <a:t>ORM:</a:t>
            </a:r>
            <a:r>
              <a:rPr lang="pt-PT" dirty="0"/>
              <a:t> Prisma 6.16.2</a:t>
            </a:r>
          </a:p>
          <a:p>
            <a:r>
              <a:rPr lang="pt-PT" b="1" dirty="0"/>
              <a:t>Autenticação:</a:t>
            </a:r>
            <a:r>
              <a:rPr lang="pt-PT" dirty="0"/>
              <a:t> JWT (</a:t>
            </a:r>
            <a:r>
              <a:rPr lang="pt-PT" dirty="0" err="1"/>
              <a:t>jsonwebtoken</a:t>
            </a:r>
            <a:r>
              <a:rPr lang="pt-PT" dirty="0"/>
              <a:t>)</a:t>
            </a:r>
          </a:p>
          <a:p>
            <a:r>
              <a:rPr lang="pt-PT" b="1" dirty="0"/>
              <a:t>Encriptação:</a:t>
            </a:r>
            <a:r>
              <a:rPr lang="pt-PT" dirty="0"/>
              <a:t> </a:t>
            </a:r>
            <a:r>
              <a:rPr lang="pt-PT" dirty="0" err="1"/>
              <a:t>bcryptjs</a:t>
            </a:r>
            <a:endParaRPr lang="pt-PT" dirty="0"/>
          </a:p>
          <a:p>
            <a:r>
              <a:rPr lang="pt-PT" b="1" dirty="0"/>
              <a:t>Uploads:</a:t>
            </a:r>
            <a:r>
              <a:rPr lang="pt-PT" dirty="0"/>
              <a:t> </a:t>
            </a:r>
            <a:r>
              <a:rPr lang="pt-PT" dirty="0" err="1"/>
              <a:t>Cloudinary</a:t>
            </a:r>
            <a:endParaRPr lang="pt-PT" dirty="0"/>
          </a:p>
          <a:p>
            <a:r>
              <a:rPr lang="pt-PT" b="1" dirty="0"/>
              <a:t>Emails:</a:t>
            </a:r>
            <a:r>
              <a:rPr lang="pt-PT" dirty="0"/>
              <a:t> </a:t>
            </a:r>
            <a:r>
              <a:rPr lang="pt-PT" dirty="0" err="1"/>
              <a:t>Gmail</a:t>
            </a:r>
            <a:r>
              <a:rPr lang="pt-PT" dirty="0"/>
              <a:t> API (</a:t>
            </a:r>
            <a:r>
              <a:rPr lang="pt-PT" dirty="0" err="1"/>
              <a:t>googleapis</a:t>
            </a:r>
            <a:r>
              <a:rPr lang="pt-PT" dirty="0"/>
              <a:t>)</a:t>
            </a:r>
          </a:p>
          <a:p>
            <a:r>
              <a:rPr lang="pt-PT" b="1" dirty="0" err="1"/>
              <a:t>PDFs</a:t>
            </a:r>
            <a:r>
              <a:rPr lang="pt-PT" b="1" dirty="0"/>
              <a:t>:</a:t>
            </a:r>
            <a:r>
              <a:rPr lang="pt-PT" dirty="0"/>
              <a:t> </a:t>
            </a:r>
            <a:r>
              <a:rPr lang="pt-PT" dirty="0" err="1"/>
              <a:t>PDFKit</a:t>
            </a:r>
            <a:endParaRPr lang="pt-PT" dirty="0"/>
          </a:p>
          <a:p>
            <a:r>
              <a:rPr lang="pt-PT" b="1" dirty="0"/>
              <a:t>Segurança:</a:t>
            </a:r>
            <a:r>
              <a:rPr lang="pt-PT" dirty="0"/>
              <a:t> CORS, validação e sanitização</a:t>
            </a:r>
          </a:p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195526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 descr="Text&#10;&#10;Description automatically generated with low confidence">
            <a:extLst>
              <a:ext uri="{FF2B5EF4-FFF2-40B4-BE49-F238E27FC236}">
                <a16:creationId xmlns:a16="http://schemas.microsoft.com/office/drawing/2014/main" id="{6B66E7D8-0A44-88AD-DB88-F5FC91BAB29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8568" r="66678" b="28168"/>
          <a:stretch/>
        </p:blipFill>
        <p:spPr>
          <a:xfrm>
            <a:off x="29574" y="231872"/>
            <a:ext cx="3675034" cy="1291942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E652BB1-DEC9-900F-C17F-A90B6A934859}"/>
              </a:ext>
            </a:extLst>
          </p:cNvPr>
          <p:cNvCxnSpPr>
            <a:cxnSpLocks/>
          </p:cNvCxnSpPr>
          <p:nvPr/>
        </p:nvCxnSpPr>
        <p:spPr>
          <a:xfrm>
            <a:off x="218993" y="1743075"/>
            <a:ext cx="11781418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9BD7E1DD-E020-4DD6-A3A8-965BCD23F8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3891" y="327431"/>
            <a:ext cx="3035276" cy="1052742"/>
          </a:xfrm>
          <a:prstGeom prst="rect">
            <a:avLst/>
          </a:prstGeom>
        </p:spPr>
      </p:pic>
      <p:sp>
        <p:nvSpPr>
          <p:cNvPr id="9" name="object 10">
            <a:extLst>
              <a:ext uri="{FF2B5EF4-FFF2-40B4-BE49-F238E27FC236}">
                <a16:creationId xmlns:a16="http://schemas.microsoft.com/office/drawing/2014/main" id="{C013C133-194D-3592-25A0-956498A9C56C}"/>
              </a:ext>
            </a:extLst>
          </p:cNvPr>
          <p:cNvSpPr txBox="1"/>
          <p:nvPr/>
        </p:nvSpPr>
        <p:spPr>
          <a:xfrm>
            <a:off x="217270" y="1886716"/>
            <a:ext cx="11757460" cy="4535857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r>
              <a:rPr lang="pt-PT" sz="2400" b="1" dirty="0">
                <a:solidFill>
                  <a:schemeClr val="accent2"/>
                </a:solidFill>
              </a:rPr>
              <a:t>Maiores desafios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sz="2000" dirty="0"/>
              <a:t>Integração entre sistemas separados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sz="2000" dirty="0"/>
              <a:t>Garantir comunicação fluida e segura entre o </a:t>
            </a:r>
            <a:r>
              <a:rPr lang="pt-PT" sz="2000" dirty="0" err="1"/>
              <a:t>frontend</a:t>
            </a:r>
            <a:r>
              <a:rPr lang="pt-PT" sz="2000" dirty="0"/>
              <a:t> (</a:t>
            </a:r>
            <a:r>
              <a:rPr lang="pt-PT" sz="2000" dirty="0" err="1"/>
              <a:t>React</a:t>
            </a:r>
            <a:r>
              <a:rPr lang="pt-PT" sz="2000" dirty="0"/>
              <a:t>) e o </a:t>
            </a:r>
            <a:r>
              <a:rPr lang="pt-PT" sz="2000" dirty="0" err="1"/>
              <a:t>backend</a:t>
            </a:r>
            <a:r>
              <a:rPr lang="pt-PT" sz="2000" dirty="0"/>
              <a:t> (Node.js/Express) hospedados em servidores diferentes.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sz="2000" dirty="0"/>
              <a:t>Criar documentos com </a:t>
            </a:r>
            <a:r>
              <a:rPr lang="pt-PT" sz="2000" dirty="0" err="1"/>
              <a:t>PDFKit</a:t>
            </a:r>
            <a:r>
              <a:rPr lang="pt-PT" sz="2000" dirty="0"/>
              <a:t>, incluindo cálculos automáticos de IVA e formatação consistente.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sz="2000" dirty="0"/>
              <a:t>Integrar a </a:t>
            </a:r>
            <a:r>
              <a:rPr lang="pt-PT" sz="2000" dirty="0" err="1"/>
              <a:t>GmailAPI</a:t>
            </a:r>
            <a:r>
              <a:rPr lang="pt-PT" sz="2000" dirty="0"/>
              <a:t> evitando falhas ou bloqueios.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  <a:p>
            <a:r>
              <a:rPr lang="pt-PT" sz="2400" b="1" dirty="0">
                <a:solidFill>
                  <a:schemeClr val="accent2"/>
                </a:solidFill>
              </a:rPr>
              <a:t>Design</a:t>
            </a:r>
          </a:p>
          <a:p>
            <a:r>
              <a:rPr lang="pt-PT" dirty="0"/>
              <a:t>O </a:t>
            </a:r>
            <a:r>
              <a:rPr lang="pt-PT" b="1" dirty="0" err="1"/>
              <a:t>backend</a:t>
            </a:r>
            <a:r>
              <a:rPr lang="pt-PT" dirty="0"/>
              <a:t> foi desenvolvido em </a:t>
            </a:r>
            <a:r>
              <a:rPr lang="pt-PT" b="1" dirty="0"/>
              <a:t>Node.js com Express</a:t>
            </a:r>
            <a:r>
              <a:rPr lang="pt-PT" dirty="0"/>
              <a:t>, pela flexibilidade e simplicidade na criação de </a:t>
            </a:r>
            <a:r>
              <a:rPr lang="pt-PT" dirty="0" err="1"/>
              <a:t>APIs</a:t>
            </a:r>
            <a:r>
              <a:rPr lang="pt-PT" dirty="0"/>
              <a:t> modernas. O uso de </a:t>
            </a:r>
            <a:r>
              <a:rPr lang="pt-PT" b="1" dirty="0"/>
              <a:t>Prisma com </a:t>
            </a:r>
            <a:r>
              <a:rPr lang="pt-PT" b="1" dirty="0" err="1"/>
              <a:t>PostgreSQL</a:t>
            </a:r>
            <a:r>
              <a:rPr lang="pt-PT" b="1" dirty="0"/>
              <a:t> (</a:t>
            </a:r>
            <a:r>
              <a:rPr lang="pt-PT" b="1" dirty="0" err="1"/>
              <a:t>Neon</a:t>
            </a:r>
            <a:r>
              <a:rPr lang="pt-PT" b="1" dirty="0"/>
              <a:t>)</a:t>
            </a:r>
            <a:r>
              <a:rPr lang="pt-PT" dirty="0"/>
              <a:t> assegurou </a:t>
            </a:r>
            <a:r>
              <a:rPr lang="pt-PT" b="1" dirty="0"/>
              <a:t>consistência de dados e fácil manutenção</a:t>
            </a:r>
            <a:r>
              <a:rPr lang="pt-PT" dirty="0"/>
              <a:t>.</a:t>
            </a:r>
          </a:p>
          <a:p>
            <a:r>
              <a:rPr lang="pt-PT" dirty="0"/>
              <a:t>O </a:t>
            </a:r>
            <a:r>
              <a:rPr lang="pt-PT" b="1" dirty="0" err="1"/>
              <a:t>frontend</a:t>
            </a:r>
            <a:r>
              <a:rPr lang="pt-PT" dirty="0"/>
              <a:t>, em </a:t>
            </a:r>
            <a:r>
              <a:rPr lang="pt-PT" b="1" dirty="0" err="1"/>
              <a:t>React</a:t>
            </a:r>
            <a:r>
              <a:rPr lang="pt-PT" b="1" dirty="0"/>
              <a:t> com </a:t>
            </a:r>
            <a:r>
              <a:rPr lang="pt-PT" b="1" dirty="0" err="1"/>
              <a:t>Vite</a:t>
            </a:r>
            <a:r>
              <a:rPr lang="pt-PT" dirty="0"/>
              <a:t>, foi mantido em repositório separado para permitir </a:t>
            </a:r>
            <a:r>
              <a:rPr lang="pt-PT" b="1" dirty="0" err="1"/>
              <a:t>deploys</a:t>
            </a:r>
            <a:r>
              <a:rPr lang="pt-PT" b="1" dirty="0"/>
              <a:t> independentes</a:t>
            </a:r>
            <a:r>
              <a:rPr lang="pt-PT" dirty="0"/>
              <a:t>, </a:t>
            </a:r>
            <a:r>
              <a:rPr lang="pt-PT" b="1" dirty="0"/>
              <a:t>versões próprias</a:t>
            </a:r>
            <a:r>
              <a:rPr lang="pt-PT" dirty="0"/>
              <a:t> e </a:t>
            </a:r>
            <a:r>
              <a:rPr lang="pt-PT" b="1" dirty="0"/>
              <a:t>maior autonomia</a:t>
            </a:r>
            <a:r>
              <a:rPr lang="pt-PT" dirty="0"/>
              <a:t> de desenvolvimento. O </a:t>
            </a:r>
            <a:r>
              <a:rPr lang="pt-PT" b="1" dirty="0" err="1"/>
              <a:t>Bootstrap</a:t>
            </a:r>
            <a:r>
              <a:rPr lang="pt-PT" dirty="0"/>
              <a:t> e o </a:t>
            </a:r>
            <a:r>
              <a:rPr lang="pt-PT" b="1" dirty="0" err="1"/>
              <a:t>React</a:t>
            </a:r>
            <a:r>
              <a:rPr lang="pt-PT" b="1" dirty="0"/>
              <a:t> </a:t>
            </a:r>
            <a:r>
              <a:rPr lang="pt-PT" b="1" dirty="0" err="1"/>
              <a:t>Context</a:t>
            </a:r>
            <a:r>
              <a:rPr lang="pt-PT" b="1" dirty="0"/>
              <a:t> API</a:t>
            </a:r>
            <a:r>
              <a:rPr lang="pt-PT" dirty="0"/>
              <a:t> foram escolhidos pela rapidez na implementação e pela boa experiência visual em dispositivos móveis.</a:t>
            </a:r>
          </a:p>
          <a:p>
            <a:r>
              <a:rPr lang="pt-PT" dirty="0"/>
              <a:t>A integração com </a:t>
            </a:r>
            <a:r>
              <a:rPr lang="pt-PT" b="1" dirty="0" err="1"/>
              <a:t>Cloudinary</a:t>
            </a:r>
            <a:r>
              <a:rPr lang="pt-PT" dirty="0"/>
              <a:t>, </a:t>
            </a:r>
            <a:r>
              <a:rPr lang="pt-PT" b="1" dirty="0" err="1"/>
              <a:t>Gmail</a:t>
            </a:r>
            <a:r>
              <a:rPr lang="pt-PT" b="1" dirty="0"/>
              <a:t> API</a:t>
            </a:r>
            <a:r>
              <a:rPr lang="pt-PT" dirty="0"/>
              <a:t> e </a:t>
            </a:r>
            <a:r>
              <a:rPr lang="pt-PT" b="1" dirty="0" err="1"/>
              <a:t>PDFKit</a:t>
            </a:r>
            <a:r>
              <a:rPr lang="pt-PT" dirty="0"/>
              <a:t> trouxe complexidade técnica, mas resultou numa aplicação </a:t>
            </a:r>
            <a:r>
              <a:rPr lang="pt-PT" b="1" dirty="0"/>
              <a:t>completa, profissional e automatizada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962379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 descr="Text&#10;&#10;Description automatically generated with low confidence">
            <a:extLst>
              <a:ext uri="{FF2B5EF4-FFF2-40B4-BE49-F238E27FC236}">
                <a16:creationId xmlns:a16="http://schemas.microsoft.com/office/drawing/2014/main" id="{6B66E7D8-0A44-88AD-DB88-F5FC91BAB29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8568" r="66678" b="28168"/>
          <a:stretch/>
        </p:blipFill>
        <p:spPr>
          <a:xfrm>
            <a:off x="29574" y="231872"/>
            <a:ext cx="3675034" cy="1291942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E652BB1-DEC9-900F-C17F-A90B6A934859}"/>
              </a:ext>
            </a:extLst>
          </p:cNvPr>
          <p:cNvCxnSpPr>
            <a:cxnSpLocks/>
          </p:cNvCxnSpPr>
          <p:nvPr/>
        </p:nvCxnSpPr>
        <p:spPr>
          <a:xfrm>
            <a:off x="218993" y="1743075"/>
            <a:ext cx="11781418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bject 10">
            <a:extLst>
              <a:ext uri="{FF2B5EF4-FFF2-40B4-BE49-F238E27FC236}">
                <a16:creationId xmlns:a16="http://schemas.microsoft.com/office/drawing/2014/main" id="{946C43C7-8C16-01D2-DE92-5E288883E9FA}"/>
              </a:ext>
            </a:extLst>
          </p:cNvPr>
          <p:cNvSpPr txBox="1"/>
          <p:nvPr/>
        </p:nvSpPr>
        <p:spPr>
          <a:xfrm>
            <a:off x="3493250" y="3750235"/>
            <a:ext cx="5232903" cy="103733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065" marR="5080" algn="ctr">
              <a:lnSpc>
                <a:spcPct val="101299"/>
              </a:lnSpc>
              <a:spcBef>
                <a:spcPts val="90"/>
              </a:spcBef>
            </a:pPr>
            <a:r>
              <a:rPr lang="pt-PT" sz="6600" b="1" dirty="0">
                <a:solidFill>
                  <a:schemeClr val="accent2"/>
                </a:solidFill>
                <a:latin typeface="TT Firs Neue" panose="02000503030000020004" pitchFamily="2" charset="0"/>
                <a:cs typeface="TTFirsNeue-DemiBold"/>
              </a:rPr>
              <a:t>Demo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6D5B37E-7199-EE63-354F-695CF1ABB5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7459" y="471072"/>
            <a:ext cx="3035276" cy="1052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88352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 descr="Text&#10;&#10;Description automatically generated with low confidence">
            <a:extLst>
              <a:ext uri="{FF2B5EF4-FFF2-40B4-BE49-F238E27FC236}">
                <a16:creationId xmlns:a16="http://schemas.microsoft.com/office/drawing/2014/main" id="{6B66E7D8-0A44-88AD-DB88-F5FC91BAB29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8568" r="66678" b="28168"/>
          <a:stretch/>
        </p:blipFill>
        <p:spPr>
          <a:xfrm>
            <a:off x="29574" y="231872"/>
            <a:ext cx="3675034" cy="1291942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E652BB1-DEC9-900F-C17F-A90B6A934859}"/>
              </a:ext>
            </a:extLst>
          </p:cNvPr>
          <p:cNvCxnSpPr>
            <a:cxnSpLocks/>
          </p:cNvCxnSpPr>
          <p:nvPr/>
        </p:nvCxnSpPr>
        <p:spPr>
          <a:xfrm>
            <a:off x="218993" y="1743075"/>
            <a:ext cx="11781418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object 10">
            <a:extLst>
              <a:ext uri="{FF2B5EF4-FFF2-40B4-BE49-F238E27FC236}">
                <a16:creationId xmlns:a16="http://schemas.microsoft.com/office/drawing/2014/main" id="{BA7E8E6F-8C37-C7A8-4170-F871B39DFD5E}"/>
              </a:ext>
            </a:extLst>
          </p:cNvPr>
          <p:cNvSpPr txBox="1"/>
          <p:nvPr/>
        </p:nvSpPr>
        <p:spPr>
          <a:xfrm>
            <a:off x="242951" y="2364887"/>
            <a:ext cx="11757460" cy="444352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r>
              <a:rPr lang="pt-PT" b="1" dirty="0"/>
              <a:t>Estado do Projeto</a:t>
            </a:r>
          </a:p>
          <a:p>
            <a:r>
              <a:rPr lang="pt-PT" dirty="0"/>
              <a:t>O </a:t>
            </a:r>
            <a:r>
              <a:rPr lang="pt-PT" b="1" dirty="0" err="1"/>
              <a:t>HomeFix</a:t>
            </a:r>
            <a:r>
              <a:rPr lang="pt-PT" dirty="0"/>
              <a:t> encontra-se atualmente em </a:t>
            </a:r>
            <a:r>
              <a:rPr lang="pt-PT" b="1" dirty="0"/>
              <a:t>fase de desenvolvimento</a:t>
            </a:r>
            <a:r>
              <a:rPr lang="pt-PT" dirty="0"/>
              <a:t>, com várias funcionalidades já implementadas e outras planeadas para futuras versões. Entre as melhorias previstas estão o aperfeiçoamento da interface, otimizações de desempenho e a introdução de novas opções no painel administrativo.</a:t>
            </a:r>
          </a:p>
          <a:p>
            <a:endParaRPr lang="pt-PT" dirty="0"/>
          </a:p>
          <a:p>
            <a:r>
              <a:rPr lang="pt-PT" b="1" dirty="0"/>
              <a:t>Gestão de Tempo e Execução</a:t>
            </a:r>
          </a:p>
          <a:p>
            <a:r>
              <a:rPr lang="pt-PT" dirty="0"/>
              <a:t>Embora o projeto tenha sido concluído com sucesso, a </a:t>
            </a:r>
            <a:r>
              <a:rPr lang="pt-PT" b="1" dirty="0"/>
              <a:t>gestão de tempo</a:t>
            </a:r>
            <a:r>
              <a:rPr lang="pt-PT" dirty="0"/>
              <a:t> revelou-se um desafio. Foram feitos vários </a:t>
            </a:r>
            <a:r>
              <a:rPr lang="pt-PT" b="1" dirty="0"/>
              <a:t>ajustes até às fases finais</a:t>
            </a:r>
            <a:r>
              <a:rPr lang="pt-PT" dirty="0"/>
              <a:t>, sempre com o objetivo de melhorar a qualidade e a estabilidade da aplicação. Esta experiência reforçou a importância de planear melhor as etapas e definir prazos realistas em projetos complexos.</a:t>
            </a:r>
          </a:p>
          <a:p>
            <a:endParaRPr lang="pt-PT" dirty="0"/>
          </a:p>
          <a:p>
            <a:r>
              <a:rPr lang="pt-PT" b="1" dirty="0"/>
              <a:t>Desafios Enfrentados</a:t>
            </a:r>
          </a:p>
          <a:p>
            <a:r>
              <a:rPr lang="pt-PT" dirty="0"/>
              <a:t>O desenvolvimento do </a:t>
            </a:r>
            <a:r>
              <a:rPr lang="pt-PT" dirty="0" err="1"/>
              <a:t>HomeFix</a:t>
            </a:r>
            <a:r>
              <a:rPr lang="pt-PT" dirty="0"/>
              <a:t> foi </a:t>
            </a:r>
            <a:r>
              <a:rPr lang="pt-PT" b="1" dirty="0"/>
              <a:t>exigente e enriquecedor</a:t>
            </a:r>
            <a:r>
              <a:rPr lang="pt-PT" dirty="0"/>
              <a:t>. Exigiu pesquisa constante, consulta de documentação e resolução de problemas de forma autónoma. Houve momentos de </a:t>
            </a:r>
            <a:r>
              <a:rPr lang="pt-PT" b="1" dirty="0"/>
              <a:t>dificuldade e incerteza</a:t>
            </a:r>
            <a:r>
              <a:rPr lang="pt-PT" dirty="0"/>
              <a:t>, mas também de grande aprendizagem. No final, o processo demonstrou que </a:t>
            </a:r>
            <a:r>
              <a:rPr lang="pt-PT" b="1" dirty="0"/>
              <a:t>a capacidade de adaptação e de procurar soluções por conta própria</a:t>
            </a:r>
            <a:r>
              <a:rPr lang="pt-PT" dirty="0"/>
              <a:t> é essencial no desenvolvimento web.</a:t>
            </a:r>
          </a:p>
        </p:txBody>
      </p:sp>
      <p:sp>
        <p:nvSpPr>
          <p:cNvPr id="2" name="object 10">
            <a:extLst>
              <a:ext uri="{FF2B5EF4-FFF2-40B4-BE49-F238E27FC236}">
                <a16:creationId xmlns:a16="http://schemas.microsoft.com/office/drawing/2014/main" id="{946C43C7-8C16-01D2-DE92-5E288883E9FA}"/>
              </a:ext>
            </a:extLst>
          </p:cNvPr>
          <p:cNvSpPr txBox="1"/>
          <p:nvPr/>
        </p:nvSpPr>
        <p:spPr>
          <a:xfrm>
            <a:off x="-1090127" y="1862675"/>
            <a:ext cx="5373276" cy="57105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065" marR="5080" algn="ctr">
              <a:lnSpc>
                <a:spcPct val="101299"/>
              </a:lnSpc>
              <a:spcBef>
                <a:spcPts val="90"/>
              </a:spcBef>
            </a:pPr>
            <a:r>
              <a:rPr lang="pt-PT" sz="3600" b="1" dirty="0">
                <a:solidFill>
                  <a:schemeClr val="accent2"/>
                </a:solidFill>
                <a:latin typeface="TT Firs Neue" panose="02000503030000020004" pitchFamily="2" charset="0"/>
                <a:cs typeface="TTFirsNeue-DemiBold"/>
              </a:rPr>
              <a:t>Conclusão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88625CB-968F-2561-23F9-47E49FD7AB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351472"/>
            <a:ext cx="3035276" cy="1052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34250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 descr="Text&#10;&#10;Description automatically generated with low confidence">
            <a:extLst>
              <a:ext uri="{FF2B5EF4-FFF2-40B4-BE49-F238E27FC236}">
                <a16:creationId xmlns:a16="http://schemas.microsoft.com/office/drawing/2014/main" id="{6B66E7D8-0A44-88AD-DB88-F5FC91BAB29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8568" r="66678" b="28168"/>
          <a:stretch/>
        </p:blipFill>
        <p:spPr>
          <a:xfrm>
            <a:off x="29574" y="231872"/>
            <a:ext cx="3675034" cy="1291942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E652BB1-DEC9-900F-C17F-A90B6A934859}"/>
              </a:ext>
            </a:extLst>
          </p:cNvPr>
          <p:cNvCxnSpPr>
            <a:cxnSpLocks/>
          </p:cNvCxnSpPr>
          <p:nvPr/>
        </p:nvCxnSpPr>
        <p:spPr>
          <a:xfrm>
            <a:off x="218993" y="1743075"/>
            <a:ext cx="11781418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bject 10">
            <a:extLst>
              <a:ext uri="{FF2B5EF4-FFF2-40B4-BE49-F238E27FC236}">
                <a16:creationId xmlns:a16="http://schemas.microsoft.com/office/drawing/2014/main" id="{946C43C7-8C16-01D2-DE92-5E288883E9FA}"/>
              </a:ext>
            </a:extLst>
          </p:cNvPr>
          <p:cNvSpPr txBox="1"/>
          <p:nvPr/>
        </p:nvSpPr>
        <p:spPr>
          <a:xfrm>
            <a:off x="3493250" y="3750235"/>
            <a:ext cx="5232903" cy="103733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065" marR="5080" algn="ctr">
              <a:lnSpc>
                <a:spcPct val="101299"/>
              </a:lnSpc>
              <a:spcBef>
                <a:spcPts val="90"/>
              </a:spcBef>
            </a:pPr>
            <a:r>
              <a:rPr lang="pt-PT" sz="6600" b="1" dirty="0">
                <a:solidFill>
                  <a:schemeClr val="accent2"/>
                </a:solidFill>
                <a:latin typeface="TT Firs Neue" panose="02000503030000020004" pitchFamily="2" charset="0"/>
                <a:cs typeface="TTFirsNeue-DemiBold"/>
              </a:rPr>
              <a:t>Q&amp;A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17E746C-AEB6-77C9-0893-2DB88DA2B5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3891" y="327431"/>
            <a:ext cx="3035276" cy="1052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49928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 descr="Text&#10;&#10;Description automatically generated with low confidence">
            <a:extLst>
              <a:ext uri="{FF2B5EF4-FFF2-40B4-BE49-F238E27FC236}">
                <a16:creationId xmlns:a16="http://schemas.microsoft.com/office/drawing/2014/main" id="{6B66E7D8-0A44-88AD-DB88-F5FC91BAB29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8568" r="66678" b="28168"/>
          <a:stretch/>
        </p:blipFill>
        <p:spPr>
          <a:xfrm>
            <a:off x="29574" y="231872"/>
            <a:ext cx="3675034" cy="1291942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E652BB1-DEC9-900F-C17F-A90B6A934859}"/>
              </a:ext>
            </a:extLst>
          </p:cNvPr>
          <p:cNvCxnSpPr>
            <a:cxnSpLocks/>
          </p:cNvCxnSpPr>
          <p:nvPr/>
        </p:nvCxnSpPr>
        <p:spPr>
          <a:xfrm>
            <a:off x="218993" y="1743075"/>
            <a:ext cx="11781418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bject 10">
            <a:extLst>
              <a:ext uri="{FF2B5EF4-FFF2-40B4-BE49-F238E27FC236}">
                <a16:creationId xmlns:a16="http://schemas.microsoft.com/office/drawing/2014/main" id="{946C43C7-8C16-01D2-DE92-5E288883E9FA}"/>
              </a:ext>
            </a:extLst>
          </p:cNvPr>
          <p:cNvSpPr txBox="1"/>
          <p:nvPr/>
        </p:nvSpPr>
        <p:spPr>
          <a:xfrm>
            <a:off x="6599977" y="1839954"/>
            <a:ext cx="5373276" cy="57105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065" marR="5080" algn="r">
              <a:lnSpc>
                <a:spcPct val="101299"/>
              </a:lnSpc>
              <a:spcBef>
                <a:spcPts val="90"/>
              </a:spcBef>
            </a:pPr>
            <a:r>
              <a:rPr lang="pt-PT" sz="3600" b="1" dirty="0">
                <a:solidFill>
                  <a:srgbClr val="5954A4"/>
                </a:solidFill>
                <a:latin typeface="TT Firs Neue" panose="02000503030000020004" pitchFamily="2" charset="0"/>
                <a:cs typeface="TTFirsNeue-DemiBold"/>
              </a:rPr>
              <a:t>Q&amp;A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E764B03-6D26-D977-DBEF-CF11A06430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3891" y="327431"/>
            <a:ext cx="3035276" cy="1052742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7558A959-56A9-911B-775C-040251986047}"/>
              </a:ext>
            </a:extLst>
          </p:cNvPr>
          <p:cNvSpPr txBox="1"/>
          <p:nvPr/>
        </p:nvSpPr>
        <p:spPr>
          <a:xfrm>
            <a:off x="2213924" y="2862585"/>
            <a:ext cx="7406639" cy="1584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065" marR="5080" algn="ctr">
              <a:lnSpc>
                <a:spcPct val="101299"/>
              </a:lnSpc>
              <a:spcBef>
                <a:spcPts val="90"/>
              </a:spcBef>
            </a:pPr>
            <a:r>
              <a:rPr lang="pt-PT" sz="9600" b="1" dirty="0">
                <a:solidFill>
                  <a:schemeClr val="accent2"/>
                </a:solidFill>
                <a:latin typeface="TT Firs Neue" panose="02000503030000020004" pitchFamily="2" charset="0"/>
                <a:cs typeface="TTFirsNeue-DemiBold"/>
              </a:rPr>
              <a:t>Obrigada!</a:t>
            </a:r>
          </a:p>
        </p:txBody>
      </p:sp>
    </p:spTree>
    <p:extLst>
      <p:ext uri="{BB962C8B-B14F-4D97-AF65-F5344CB8AC3E}">
        <p14:creationId xmlns:p14="http://schemas.microsoft.com/office/powerpoint/2010/main" val="36996112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Amarelo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FFCA08"/>
      </a:accent1>
      <a:accent2>
        <a:srgbClr val="F8931D"/>
      </a:accent2>
      <a:accent3>
        <a:srgbClr val="CE8D3E"/>
      </a:accent3>
      <a:accent4>
        <a:srgbClr val="EC7016"/>
      </a:accent4>
      <a:accent5>
        <a:srgbClr val="E64823"/>
      </a:accent5>
      <a:accent6>
        <a:srgbClr val="9C6A6A"/>
      </a:accent6>
      <a:hlink>
        <a:srgbClr val="2998E3"/>
      </a:hlink>
      <a:folHlink>
        <a:srgbClr val="7F723D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Faceta">
  <a:themeElements>
    <a:clrScheme name="Laranja-avermelhado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Facet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8656</TotalTime>
  <Words>1130</Words>
  <Application>Microsoft Office PowerPoint</Application>
  <PresentationFormat>Ecrã Panorâmico</PresentationFormat>
  <Paragraphs>112</Paragraphs>
  <Slides>15</Slides>
  <Notes>1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8</vt:i4>
      </vt:variant>
      <vt:variant>
        <vt:lpstr>Tema</vt:lpstr>
      </vt:variant>
      <vt:variant>
        <vt:i4>2</vt:i4>
      </vt:variant>
      <vt:variant>
        <vt:lpstr>Títulos dos diapositivos</vt:lpstr>
      </vt:variant>
      <vt:variant>
        <vt:i4>15</vt:i4>
      </vt:variant>
    </vt:vector>
  </HeadingPairs>
  <TitlesOfParts>
    <vt:vector size="25" baseType="lpstr">
      <vt:lpstr>TTFirsNeue-DemiBold</vt:lpstr>
      <vt:lpstr>Calibri Light</vt:lpstr>
      <vt:lpstr>Arial</vt:lpstr>
      <vt:lpstr>Trebuchet MS</vt:lpstr>
      <vt:lpstr>Stencil</vt:lpstr>
      <vt:lpstr>Calibri</vt:lpstr>
      <vt:lpstr>TT Firs Neue</vt:lpstr>
      <vt:lpstr>Wingdings 3</vt:lpstr>
      <vt:lpstr>Office Theme</vt:lpstr>
      <vt:lpstr>Faceta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Diogo Pereira</dc:creator>
  <cp:lastModifiedBy>marcia coelho</cp:lastModifiedBy>
  <cp:revision>35</cp:revision>
  <dcterms:created xsi:type="dcterms:W3CDTF">2023-02-28T12:21:57Z</dcterms:created>
  <dcterms:modified xsi:type="dcterms:W3CDTF">2025-11-05T23:40:19Z</dcterms:modified>
</cp:coreProperties>
</file>